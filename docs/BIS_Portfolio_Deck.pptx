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  <p:sldId id="264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11/relationships/webextension" Target="../webextensions/webextension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12480" y="-914400"/>
            <a:ext cx="4114800" cy="41148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3840480"/>
            <a:ext cx="2926080" cy="2926080"/>
          </a:xfrm>
          <a:prstGeom prst="ellipse">
            <a:avLst/>
          </a:prstGeom>
          <a:solidFill>
            <a:srgbClr val="22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2011680" cy="29260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721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14263D"/>
                </a:solidFill>
                <a:latin typeface="Calibri"/>
              </a:rPr>
              <a:t>PORTFOLIO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BIS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974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E8A020"/>
                </a:solidFill>
                <a:latin typeface="Calibr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A0B4CC"/>
                </a:solidFill>
                <a:latin typeface="Calibri"/>
              </a:rPr>
              <a:t>MS Fabric  ·  dbt Core  ·  Power BI  ·  T-SQL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59436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407408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Gauthier 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28032"/>
            <a:ext cx="6400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A0B4CC"/>
                </a:solidFill>
                <a:latin typeface="Calibri"/>
              </a:rPr>
              <a:t>Candidate — Senior Business 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303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113385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1E293B"/>
                </a:solidFill>
                <a:latin typeface="Calibri"/>
              </a:rPr>
              <a:t>Built a production-grade currency deposit analytics pipeline mirroring the BIS Banking Department tech stack — from synthetic Findur data to published Power BI report.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508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1C3354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dbt models
across 4 layers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64008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D9488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month-end
as-of 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920240"/>
            <a:ext cx="64008" cy="150876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993392"/>
            <a:ext cx="2286000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 dirty="0">
                <a:solidFill>
                  <a:srgbClr val="C48310"/>
                </a:solidFill>
                <a:latin typeface="Calibri"/>
              </a:rPr>
              <a:t>SDR </a:t>
            </a:r>
            <a:r>
              <a:rPr lang="en-US" sz="3400" b="1" dirty="0">
                <a:solidFill>
                  <a:srgbClr val="C48310"/>
                </a:solidFill>
                <a:latin typeface="Calibri"/>
              </a:rPr>
              <a:t>297</a:t>
            </a:r>
            <a:r>
              <a:rPr sz="3400" b="1" i="0" dirty="0">
                <a:solidFill>
                  <a:srgbClr val="C48310"/>
                </a:solidFill>
                <a:latin typeface="Calibri"/>
              </a:rPr>
              <a:t>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633472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100" dirty="0" err="1">
                <a:solidFill>
                  <a:srgbClr val="64748B"/>
                </a:solidFill>
                <a:latin typeface="Calibri"/>
              </a:rPr>
              <a:t>Avg</a:t>
            </a:r>
            <a:r>
              <a:rPr lang="en-GB" sz="1100" dirty="0">
                <a:solidFill>
                  <a:srgbClr val="64748B"/>
                </a:solidFill>
                <a:latin typeface="Calibri"/>
              </a:rPr>
              <a:t> active book</a:t>
            </a:r>
            <a:endParaRPr sz="110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91540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400" y="1920240"/>
            <a:ext cx="64008" cy="150876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828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2D9D78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Power BI visuals
2 report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49039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Currency deposit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Star schema (1 fact + 4 dims)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Maturity ladder mart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Fiscal year Apr → Mar (BIS convention)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3657600"/>
            <a:ext cx="3749039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6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Demonstrates BIS-stack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Domain: SDR, FIXBIS, MTI, Sight, Notice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Business logic from Annual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Data validated against p.105-106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75319" y="3657600"/>
            <a:ext cx="3749039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Python → Fabric OneLake → dbt → 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9 SQL models, all materialised as views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Azure CLI auth → Fabric SQL Endpoint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dbt run PASS=9 / Power BI refresh 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BIS Domain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All business logic validated against BIS Annual Report 2024/25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36192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36192"/>
            <a:ext cx="539496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SDR — Unit of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72768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93392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Special Drawing Right — IMF basket of 5 currencies: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22576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USD · EUR · GBP · JPY · CNY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51760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BIS reports all figures in SDR — pipeline converts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80944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every deal to SDR via monthly IMF rate feed.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36192"/>
            <a:ext cx="56967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536192"/>
            <a:ext cx="5696712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1572768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BIS Fiscal Year — April to 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1572768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993392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FY2023-24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9933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2023 → 31 Mar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322576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FY2024-25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2322576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2024 → 31 Mar 2025  ← current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651760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1" y="2651760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April · May ·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80944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FQ2–FQ4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980944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Jul–Sep · Oct–Dec · Jan–Mar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703320"/>
            <a:ext cx="539496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539496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7398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Deposit Products (Findur codes)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73989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160520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FIXBIS_DEP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4160520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Fixed-rate deposit — fixed term &amp; rate. Most common.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72583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MTI_DEP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4672583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Medium-term instrument — 1–10yr tenor.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84648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SIGHT_DEP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5184648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On-demand / overnight. No maturity date.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696712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NOTICE_DEP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5696712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Redeemable after advance notice period.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703320"/>
            <a:ext cx="5696712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80760" y="3703320"/>
            <a:ext cx="5696712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36208" y="3739896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Geographic Distribution of Deposits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3739896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1605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Asia-Pacific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1605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D9D78"/>
                </a:solidFill>
                <a:latin typeface="Calibri"/>
              </a:rPr>
              <a:t>61%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9299" y="4224528"/>
            <a:ext cx="2607812" cy="1554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36208" y="452628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Americas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452628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D9488"/>
                </a:solidFill>
                <a:latin typeface="Calibri"/>
              </a:rPr>
              <a:t> 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4590288"/>
            <a:ext cx="475488" cy="1554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208" y="489204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Europe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30768" y="489204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1C3354"/>
                </a:solidFill>
                <a:latin typeface="Calibri"/>
              </a:rPr>
              <a:t> 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956048"/>
            <a:ext cx="420624" cy="1554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36208" y="525780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Middle East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8" y="525780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C48310"/>
                </a:solidFill>
                <a:latin typeface="Calibri"/>
              </a:rPr>
              <a:t> 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321808"/>
            <a:ext cx="365760" cy="1554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562356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Africa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0768" y="562356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 6%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98280" y="5687568"/>
            <a:ext cx="320040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36208" y="59893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International institutions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30768" y="59893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5B6B7E"/>
                </a:solidFill>
                <a:latin typeface="Calibri"/>
              </a:rPr>
              <a:t> 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6053328"/>
            <a:ext cx="475488" cy="155448"/>
          </a:xfrm>
          <a:prstGeom prst="rect">
            <a:avLst/>
          </a:prstGeom>
          <a:solidFill>
            <a:srgbClr val="5B6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103120" cy="2560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Openlink
Findur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Simulated via
Python 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97480" y="1280160"/>
            <a:ext cx="2103120" cy="25603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C3354"/>
                </a:solidFill>
                <a:latin typeface="Calibri"/>
              </a:rPr>
              <a:t>PySpark
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CSV → Delta
tables (OneLake)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1888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7492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74920" y="1280160"/>
            <a:ext cx="210312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6635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dbt Core
9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59" y="2322576"/>
            <a:ext cx="1920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Calibri"/>
              </a:rPr>
              <a:t>3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 layers:
stg→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int→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mart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96327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5236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52360" y="1280160"/>
            <a:ext cx="2103120" cy="25603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80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2D9D78"/>
                </a:solidFill>
                <a:latin typeface="Calibri"/>
              </a:rPr>
              <a:t>Semantic
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322576"/>
            <a:ext cx="1920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64748B"/>
                </a:solidFill>
                <a:latin typeface="Calibri"/>
              </a:rPr>
              <a:t>Import mode
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Fabric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Power BI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376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2980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829800" y="1280160"/>
            <a:ext cx="2103120" cy="256032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92124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627632"/>
            <a:ext cx="19202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00" b="1" i="0" dirty="0">
                <a:solidFill>
                  <a:srgbClr val="C48310"/>
                </a:solidFill>
                <a:latin typeface="Calibri"/>
              </a:rPr>
              <a:t>Fabric </a:t>
            </a:r>
            <a:r>
              <a:rPr sz="1400" b="1" i="0" dirty="0">
                <a:solidFill>
                  <a:srgbClr val="C48310"/>
                </a:solidFill>
                <a:latin typeface="Calibri"/>
              </a:rPr>
              <a:t>Power BI
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 pages · 10 visuals
4 slicers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7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findur_export.csv
src_deals · src_fx_rates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bis_raw Lakehouse
Delta / Parquet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bis_analytics
SQL views (T-SQL)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VertiPaq engine
DAX measures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Page 1: Deposits
Page 2: Maturity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480560"/>
            <a:ext cx="11548872" cy="111556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4480560"/>
            <a:ext cx="64008" cy="11155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454456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In BIS production: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864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050" dirty="0"/>
              <a:t>Findur → Scheduled ETL pipeline (Spark / Cloudera CDS) · dbt Cloud or dbt Core · Lakehouse SQL endpoint (Delta / Parquet) · Power BI or Tableau with RLS · CI/CD pipeline (e.g. Azure DevOps)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20" y="5248656"/>
            <a:ext cx="109728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00" i="1" dirty="0">
                <a:solidFill>
                  <a:srgbClr val="64748B"/>
                </a:solidFill>
              </a:rPr>
              <a:t>Core skills transfer directly — star schema, dbt, SDR metrics apply on any Lakehouse platform.</a:t>
            </a:r>
            <a:r>
              <a:rPr lang="en-US" sz="1000" b="0" i="1" dirty="0">
                <a:solidFill>
                  <a:srgbClr val="64748B"/>
                </a:solidFill>
                <a:latin typeface="Calibri"/>
              </a:rPr>
              <a:t> </a:t>
            </a:r>
            <a:endParaRPr sz="1000" i="1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11480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MS Fabric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61488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61488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dbt 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11496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T-SQL / Views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3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461503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11511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11511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Azure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Model — 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1417320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170432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15568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965960" y="1115568"/>
            <a:ext cx="54864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1152144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onsolas"/>
              </a:rPr>
              <a:t>stg_deals · stg_fx_rates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444752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64748B"/>
                </a:solidFill>
                <a:latin typeface="Calibri"/>
              </a:rPr>
              <a:t>type casting · no aggregation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901952"/>
            <a:ext cx="1417320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956816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INTERMEDIATE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01952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965960" y="1901952"/>
            <a:ext cx="54864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48840" y="193852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4E9A9A"/>
                </a:solidFill>
                <a:latin typeface="Consolas"/>
              </a:rPr>
              <a:t>int_deals_with_sdr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231136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LEFT JOIN to FX rates · SDR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88336"/>
            <a:ext cx="1417320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2743200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DIM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2688336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965960" y="2688336"/>
            <a:ext cx="54864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48840" y="272491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C48310"/>
                </a:solidFill>
                <a:latin typeface="Consolas"/>
              </a:rPr>
              <a:t>dim_counterparty · dim_currency · dim_product · dim_date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017520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lookup + classification tables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74720"/>
            <a:ext cx="1417320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3529584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FACT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474720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965960" y="3474720"/>
            <a:ext cx="54864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8840" y="35112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C3354"/>
                </a:solidFill>
                <a:latin typeface="Consolas"/>
              </a:rPr>
              <a:t>fct_currency_deposits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803904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grain: deal_id · 4 FK + 3 date FK · 4 measures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261104"/>
            <a:ext cx="1417320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" y="4315968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4261104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965960" y="4261104"/>
            <a:ext cx="54864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148840" y="429768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2D9D78"/>
                </a:solidFill>
                <a:latin typeface="Consolas"/>
              </a:rPr>
              <a:t>mart_maturity_ladder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590288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24 as-of dates × 7 buckets · standalone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" y="1773936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1560" y="2560320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51560" y="3346704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1560" y="4133087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772400" y="1115568"/>
            <a:ext cx="41148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09560" y="117043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Star Schema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53728" y="2286000"/>
            <a:ext cx="1307592" cy="1417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23960" y="2423160"/>
            <a:ext cx="1783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fct_currency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78892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_deposits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10896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8A020"/>
                </a:solidFill>
                <a:latin typeface="Calibri"/>
              </a:rPr>
              <a:t>[ FACT 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8958" y="1389888"/>
            <a:ext cx="128016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234678" y="1481328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2766060"/>
            <a:ext cx="1216729" cy="32004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63840" y="2788920"/>
            <a:ext cx="12801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counterparty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16768" y="2697480"/>
            <a:ext cx="1280160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762488" y="2788920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4683" y="4251960"/>
            <a:ext cx="1280160" cy="4754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20403" y="4343400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02190" y="1865376"/>
            <a:ext cx="36576" cy="420624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63355" y="2926080"/>
            <a:ext cx="164337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589919" y="2926080"/>
            <a:ext cx="105108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987915" y="3703320"/>
            <a:ext cx="36576" cy="548640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18120" y="5029200"/>
            <a:ext cx="3749039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82127" y="50932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mart_maturity_ladder  (standalone)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Maturity Ladder — Liquidity Risk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57784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57784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is a maturity ladder?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 liquidity risk report showing how much of the deposit book matures in each time window at a specific point in time. Used daily by BIS treasury and risk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56816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7 maturity buckets: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24912"/>
            <a:ext cx="91440" cy="2743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70662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onsolas"/>
              </a:rPr>
              <a:t>1. Overnight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70662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Sight accounts — redeemable any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72384"/>
            <a:ext cx="9144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5409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onsolas"/>
              </a:rPr>
              <a:t>2. ≤ 1 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05409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91440" cy="27432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0156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2D9D78"/>
                </a:solidFill>
                <a:latin typeface="Consolas"/>
              </a:rPr>
              <a:t>3. ≤ 1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401568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91440" cy="274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749040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onsolas"/>
              </a:rPr>
              <a:t>4. ≤ 3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3749040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91440" cy="27432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9651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C48310"/>
                </a:solidFill>
                <a:latin typeface="Consolas"/>
              </a:rPr>
              <a:t>5. ≤ 6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096512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180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62272"/>
            <a:ext cx="9144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44398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onsolas"/>
              </a:rPr>
              <a:t>6. ≤ 1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444398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809744"/>
            <a:ext cx="91440" cy="274320"/>
          </a:xfrm>
          <a:prstGeom prst="rect">
            <a:avLst/>
          </a:prstGeom>
          <a:solidFill>
            <a:srgbClr val="DC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79145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DC2B2B"/>
                </a:solidFill>
                <a:latin typeface="Consolas"/>
              </a:rPr>
              <a:t>7. &gt; 1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479145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&gt; 365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115568"/>
            <a:ext cx="560527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1115568"/>
            <a:ext cx="560527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it's built — hybrid approach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57276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160934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157276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CROSS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0568" y="1810512"/>
            <a:ext cx="48463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50" dirty="0">
                <a:solidFill>
                  <a:srgbClr val="1E293B"/>
                </a:solidFill>
                <a:latin typeface="Calibri"/>
              </a:rPr>
              <a:t>7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00 active deals × 24 month-ends
= 1</a:t>
            </a:r>
            <a:r>
              <a:rPr lang="en-US" sz="1050" b="0" i="0" dirty="0">
                <a:solidFill>
                  <a:srgbClr val="1E293B"/>
                </a:solidFill>
                <a:latin typeface="Calibri"/>
              </a:rPr>
              <a:t>6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,</a:t>
            </a:r>
            <a:r>
              <a:rPr lang="en-US" sz="1050" b="0" i="0" dirty="0">
                <a:solidFill>
                  <a:srgbClr val="1E293B"/>
                </a:solidFill>
                <a:latin typeface="Calibri"/>
              </a:rPr>
              <a:t>8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00 (deal, as-of date) pairs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395728"/>
            <a:ext cx="384048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55080" y="243230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23957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days_to_maturity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263347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DATEDIFF(day, as_of_date,
maturity_date) per pair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218688"/>
            <a:ext cx="384048" cy="3840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25526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0568" y="321868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Bucket 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3456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CASE WHEN in dbt SQL assigns
each pair to 1 of 7 buckets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4041648"/>
            <a:ext cx="384048" cy="3840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55080" y="407822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40416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Aggregate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0568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COUNT + SUM per (as_of_date,
bucket) → 71 rows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486460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80" y="490118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486460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Power BI slicer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0568" y="51023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User picks as_of_date →
chart shows that snapshot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5742432"/>
            <a:ext cx="5303520" cy="566928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355080" y="5742432"/>
            <a:ext cx="64008" cy="56692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92240" y="5833872"/>
            <a:ext cx="5029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✓  71 rows · 24 dates × up to 7 buckets · dbt run PASS=1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Power BI Report —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44068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440680" cy="365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1 — Deposit Book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Stacked bar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by Region — 6 regions, matches Annual Report Graph 4.3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23744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Grouped bar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Deposits by Fiscal Year — FY2023-24 vs FY2024-25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4381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Fiscal Year filter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334256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Currency filter (10 currencies)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230368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KPI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· Deal Count · Avg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15568"/>
            <a:ext cx="546811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1115568"/>
            <a:ext cx="5468112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480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2 — Counterparty &amp; 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627632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6459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Table visual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Top counterparties: cpty_name · region · total SDR (Bn)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523744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254203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Bar chart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Maturity ladder — 7 buckets, sorted by time horizon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419856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3438144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(dropdown)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as_of_date — 24 month-ends Apr 2023 → Mar 2025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315968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4334256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(list)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Region filter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212080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23036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Interaction 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FY slicer does not filter FY comparison chart (self-filter fix)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 Stack — Project vs BIS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2331720" cy="384048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34640" y="1115568"/>
            <a:ext cx="42062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0" y="1115568"/>
            <a:ext cx="4663440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170432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BIS 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572768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09344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Source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609344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Python-generated CSV
(Findur simulation)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09344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Openlink Findur
(live extract)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31136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223113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26771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Raw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267712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 err="1"/>
              <a:t>PySpark</a:t>
            </a:r>
            <a:r>
              <a:rPr lang="en-US" sz="1050" dirty="0"/>
              <a:t> notebook </a:t>
            </a:r>
          </a:p>
          <a:p>
            <a:r>
              <a:rPr lang="en-US" sz="1050" dirty="0"/>
              <a:t>(CSV → Fabric Lakehouse)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0" y="226771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Scheduled ETL pipeline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(Spark / Cloudera CDS)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89504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889504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Transformation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926080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/>
              <a:t>dbt Core (CLI) </a:t>
            </a:r>
          </a:p>
          <a:p>
            <a:r>
              <a:rPr lang="en-US" sz="1050" dirty="0"/>
              <a:t>Fabric SQL Analytics Endpoint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32320" y="292608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or dbt Cloud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(Databricks / Snowflake)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47872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547872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Semantic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84448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050"/>
              <a:t>Fabric Power </a:t>
            </a:r>
            <a:r>
              <a:rPr lang="en-GB" sz="1050" dirty="0"/>
              <a:t>BI Import mode </a:t>
            </a:r>
          </a:p>
          <a:p>
            <a:r>
              <a:rPr lang="en-GB" sz="1050" dirty="0"/>
              <a:t>Fabric SQL Endpoint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132320" y="358444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or Tableau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(direct connection)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06240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4206240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242816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Reporting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242816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>
                <a:solidFill>
                  <a:srgbClr val="1E293B"/>
                </a:solidFill>
                <a:latin typeface="Calibri"/>
              </a:rPr>
              <a:t>Fabric Power BI </a:t>
            </a:r>
          </a:p>
          <a:p>
            <a:r>
              <a:rPr lang="en-US" sz="1050" dirty="0">
                <a:solidFill>
                  <a:srgbClr val="1E293B"/>
                </a:solidFill>
                <a:latin typeface="Calibri"/>
              </a:rPr>
              <a:t>(workspace publish)</a:t>
            </a:r>
            <a:endParaRPr sz="105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Service
RLS · certified dataset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864607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4864607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3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Auth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901183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1E293B"/>
                </a:solidFill>
                <a:latin typeface="Calibri"/>
              </a:rPr>
              <a:t>Azure CLI interactive
(</a:t>
            </a:r>
            <a:r>
              <a:rPr sz="1050" b="0" i="0" dirty="0" err="1">
                <a:solidFill>
                  <a:srgbClr val="1E293B"/>
                </a:solidFill>
                <a:latin typeface="Calibri"/>
              </a:rPr>
              <a:t>az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 logi</a:t>
            </a:r>
            <a:r>
              <a:rPr sz="1050" dirty="0">
                <a:solidFill>
                  <a:srgbClr val="1E293B"/>
                </a:solidFill>
                <a:latin typeface="Calibri"/>
              </a:rPr>
              <a:t>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901183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Service Principal
Managed Identity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522976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552297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555955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Orchestration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5559552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Manual CLI (dbt run)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5595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CI/CD pipeline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(e.g. Azure DevOps)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199632"/>
            <a:ext cx="11384280" cy="4572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11480" y="6199632"/>
            <a:ext cx="64008" cy="45720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2D9D78"/>
                </a:solidFill>
                <a:latin typeface="Calibri"/>
              </a:rPr>
              <a:t>Architecture maps to modern data Lake</a:t>
            </a:r>
            <a:r>
              <a:rPr lang="en-US" sz="1100" b="1" dirty="0">
                <a:solidFill>
                  <a:srgbClr val="2D9D78"/>
                </a:solidFill>
                <a:latin typeface="Calibri"/>
              </a:rPr>
              <a:t>h</a:t>
            </a:r>
            <a:r>
              <a:rPr sz="1100" b="1" i="0" dirty="0">
                <a:solidFill>
                  <a:srgbClr val="2D9D78"/>
                </a:solidFill>
                <a:latin typeface="Calibri"/>
              </a:rPr>
              <a:t>ouse principles — dbt, SQL views, star schema, BI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432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-731520"/>
            <a:ext cx="4572000" cy="45720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Let's connect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61488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07792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Email: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07792"/>
            <a:ext cx="8686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</a:rPr>
              <a:t>g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authier@gny-consulting.com</a:t>
            </a:r>
            <a:endParaRPr sz="12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Role: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474720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Senior Business Data Analyst — BIS Banking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41648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41648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MS Fabric  ·  dbt Core  ·  Power BI  ·  T-SQL  · 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Project: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08576"/>
            <a:ext cx="8686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BIS_Project_2026 — full pipeline 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available </a:t>
            </a:r>
            <a:r>
              <a:rPr lang="en-GB" sz="1200" b="0" i="0" dirty="0">
                <a:solidFill>
                  <a:srgbClr val="FFFFFF"/>
                </a:solidFill>
                <a:latin typeface="Calibri"/>
              </a:rPr>
              <a:t>in the Git Hub repository</a:t>
            </a:r>
            <a:endParaRPr sz="12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5349240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webextension1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E6E6E6&quot;"/>
    <we:property name="bookmark" value="&quot;H4sIAAAAAAAAA+1Y32/TMBD+V5BfeCnISX8k2dtWNgkJoYmiIYSm6mxfOm9pHDnOaKn2v3N2Uka7akPaGAjah8g+n3133313srtiStdVAcv3MEd2wI6MuZqDvXoRsR4rW5lIxCBLBhFmKlMjwRPkQKumctqUNTtYMQd2hu5M1w0U/iASfmFRLkYC8jRSXEZD+imO7LzHoChOYeZ1cihq7LEKbW1KKPQ3bI+gJWcbvOkxXFSFseANTRw49MauSZ3m5Fj0uk9+gHT6GicoXSvlyGOBUsUZpCpKUj6KOanVrULwd6eKPzqYH5vSgS7JjJflmORxP+OJSIciGWX9hA+CXBeuUxHL40VlKWZCYll5yA7VNZQSFQshWKxbj1fscDazOAPXTY83FsemaOY75BPTWIkfMA9LpdNuSTZy6aaysRZLuZwqrEytXc1uCLVTawjToFSauSZopzA3TemmtbJB46QpO7i4n16Yr2OLhK/ygnOS1LqcFV06bpH52EYnwapuiWggLglZjwNtM1ahPVoGKN5ou85J3NuK6G+EgeImUST5MB/1cyEHwEfJMJUD/mC6xwTdzFgtAyL4iGiUnk8ra1Qj3XYMnXgaqvJu1nr/C/mKpqZMoDoCO74A6/4tDq77GW28/KljdQxro/pdlKICoHXq9Wo0HOQ8izLB6Zvy9JkrYI3ltr8b8j399/R/Oj613Mc4EnRdERhzLlOVgojFc3Pfw4O2Au/ilr+UML9/z/49+5+aUS3/d97Zn5f/yl/zt7zMdU2HT5cIdgf5H2QNdDUxKbREu+PmyuZIDxg/mCHd+/0RFF7VOqCxvoVgc3S2fooQv06smYdt3UvKV+DdwHqs9Yn7ZH+6ICp3SS2VXpPx7RZe9a/nvZ0E6/dCSMbPoGjCQ43OfqddG/WqFZP+y5PPMY8Hr+LhS69/3t6Pu0+P5QAiUkmfYySSJAEl4pHffm8eHC6cMIvNmg20izIASFBJjpLzfhThw2+sP027fc/d99xH0CkUktfY1YZM4+oKJJ5CiTt6EbEMSuXzF8ahF+2o4fD/Crv5UbbfAQpFi+PtEQAA&quot;"/>
    <we:property name="creatorSessionId" value="&quot;ba502e7e-07b5-4739-ac41-ac2a56e2226d&quot;"/>
    <we:property name="creatorTenantId" value="&quot;04f991f3-0023-4b95-ab0d-bebbdbc8df14&quot;"/>
    <we:property name="creatorUserId" value="&quot;10032005BA5268A4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isFiltersActionButtonVisible" value="true"/>
    <we:property name="isVisualContainerHeaderHidden" value="false"/>
    <we:property name="pageDisplayName" value="&quot;Portfolio Overview&quot;"/>
    <we:property name="pageName" value="&quot;0e02becd29a8d1780620&quot;"/>
    <we:property name="reportEmbeddedTime" value="&quot;2026-04-26T21:50:41.024Z&quot;"/>
    <we:property name="reportName" value="&quot;bis_analytics_report&quot;"/>
    <we:property name="reportState" value="&quot;CONNECTED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50:41.024Z&quot;"/>
    <we:property name="creatorSessionId" value="&quot;ba502e7e-07b5-4739-ac41-ac2a56e2226d&quot;"/>
    <we:property name="creatorUserId" value="&quot;10032005BA5268A4&quot;"/>
    <we:property name="creatorTenantId" value="&quot;04f991f3-0023-4b95-ab0d-bebbdbc8df14&quot;"/>
    <we:property name="pageDisplayName" value="&quot;Portfolio Overview&quot;"/>
    <we:property name="pageName" value="&quot;0e02becd29a8d1780620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bookmark" value="&quot;H4sIAAAAAAAAA+1Y32/TMBD+V5BfeCnITtv82NtWmISE0MTQEEJTdbYvnbc0jhxnrEz73zk7KWNdxZCAgaB9iOzz+Xz33Xcnu9dMm7apYPUGlsj22IG1F0twF08EG7G6l6lsXE6KtCxEjlnKp0JMElq1jTe2btneNfPgFuhPTNtBFQyR8OPpiEFVHcEizEqoWhyxBl1ra6jMZ+yVacm7Dm9GDK+ayjoIJo89eAxmL0md5uSCeD6mE0F5c4nHqHwv5cgTiUonBeRaZDlPE05qba8QPduqEkzH42e29mBqOibISszKZFzwTOZTmaXFOOOTKDeVH1Tk6uVV4yg6innVBHD29SXUCjWLIThse4+v2f5i4XABfpi+vLM4s1W33CI/tp1T+BbLuFR741d0Rqn8XHXOYa1Wc42NbY1v2Q2hduQsYRqVars0BO0clrar/bzVLmocdvUAFw/TM/tp5pDw1UFwSpLW1ItqSMctMu/66BQ4PSxRwuU5IRtwoG3WaXQHqwjFC+PWOUlGGxH9jTBQ3CQSik/LdFxKNQGeZtNcTfiD6Z4RdAvrjIqI4E9Eo81y3jirO+U3YxjE81h/97M2+l/IV3UtZQL1AbjZGTj/b3Fw3c9o4/k3HWtgWB/V76IUFQCtT4pMp9NJyQtRSE7fnOePXAFrLDf9vSPf0X9H/1/Hp577mAipuZKYcK5ynYNM5GNzP8CDroHg4oa/lLCwf8f+Hft/NaN6/otSphLKXFARiCn9NMdH5r8O1/wNL0vTkvH5CsFtIf+DrIGhJo4ro9BtubmyJdJTJQwWSPf+YILCa3oHDLa3ENwdnayfIsSvQ2eXcdvwZgoVeD+wEet94iHZ78+IykNSa23WZHy1gVf743nvJ/H070JIh59A1cUnGdl+bXwf9XUvJv2nhx8SnkyeJdOnQf+0vx8PnxErAaTQ2ZijkFmWgZZJGrZ/Nw8er7y0V3drNtJOFACQoVYcFedjIfDhN9afpt2u5+567k/QKRZS0NjWhmzn2wYUHkGNW3oRsQxqHfIXx7EXbanh+P8Ku/latl8AURVnwtcR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2DC6E3CD-D1E8-42D2-B816-3BB9EDC81C62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5f57c4a1a6c45018354c?bookmarkGuid=6d6235c1-fcd7-4199-ad5b-179596412b56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49:27.262Z&quot;"/>
    <we:property name="creatorSessionId" value="&quot;e438f960-d861-43a2-98b5-810e1b351479&quot;"/>
    <we:property name="creatorUserId" value="&quot;10032005BA5268A4&quot;"/>
    <we:property name="creatorTenantId" value="&quot;04f991f3-0023-4b95-ab0d-bebbdbc8df14&quot;"/>
    <we:property name="pageDisplayName" value="&quot;Maturity &amp; Counterparty&quot;"/>
    <we:property name="pageName" value="&quot;5f57c4a1a6c45018354c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VYbU/jRhD+K5W/8CVUfk1IvkEuSNX1gF4QVVVF1nh3HPawve56zZGi/PfOrp0QciHk6CV3ahFC69nZ2ZlnnhmPeXS4qMoMZheQozNwzqS8y0Hd/eQ5HadoZZeX7z+cfnwfX5x+GJFYllrIonIGj44GNUV9I6oaMmOBhH9OOg5k2RVMzVMKWYUdp0RVyQIy8Tc2yrSlVY3zjoMPZSYVGJNjDRqN2XtSp2e62/s5oBuBaXGPY2S6kUZp1GMheNBlYeR6J0EUMlKrGgXr2UYVY9peP5SFBlHQNUbW74ahD5GbnHSjbuC6XZ4kRp6KTLcqyWz0UCqKjmKelQaVIfk6lUowyBwbhcKqcfrRGcqszu1q9Ew+lrVi+BFTu1VooWdkKWU6ZrVSWLBZzLGUldCVMydsrpQk5KwSR8jiigCqm61b+XmokHzgzsCdd5ZunfJ7KBhJ1306nU4VTkG3j6N9O1zIXFDGY8hlXei44spqnNdFm0X3yzAmJKlEMc1aljwl7LqJjmV1RSlBfgZqeAtKGzomnyjvJkt0WiqO6mxmE/VOqAVj/M5aYD8iGvPJgul08NMKl1uqNVHtnVuTudmOTlg3DPpRFIaB7/qe2/XcV2viWpYXlJFGx6jcLAqZEnCuZG6V21ZT1clfNVJU67kZLzZo/dtisc2SIfsyYi7ymBmQUZVg4us4DXlslbQn0tUTmzF6OkZpGWNG+dgd/+bBuraGNSv1LLaNleQLbwRmpEj3XB6MvksP07dSlZLtDDzXsqWByl9BeNeckKHfb6miW2wLLhZB/bIWQvWN4bcxQJLhy8eXFJ2bn8n83/X5L1DY4tvLDf7bvXd28scqqNkP4hKR3pz//74AtSHs6OG/9dozIv8kAd9H6AUYhH2/F/roHXAGM8TjZvpcCyAVFRmPZwhqA+teTRe0ZBxngqFqlVZz5+RIE7RZTJHGUWOCwisbBwRWTxA8X33V69AG9t1a7nMI6fIbyGr7pUC2fxW6ifqxEZP+0fkfNHCEx350ZPQnDUPaPx3H9YD3MXSjKPHDbt8NAuyZ49vLBh90ItfKxo456QmHbuhy7jNwvTDApPcq7Q7RYugjTMc5jWSKnuMMOBX4OrJaajO47dJY9tGsd3FxuZ3U7A71W2rorTO/t978DhHdPmb4t3nSjPHMD4NeEPDA66ELvhd6/eCAbXUX16GKZfrUfL+SHZXtrHvvqflqT90Y1aH6a74Vv9fbq1HUIscjarLRsRscB9616w7s71rD7Rhl2IBeLrnFFy1xNnfxd3SCy8/F0WJ4/q6V+gykF4t0Cd3eXbAAW0g20FbWuiqB4RUUuAF9Qh0KbupjawbM/9ccewcVjGi/c3bQb537B7kHOugaFAAA&quot;"/>
    <we:property name="bookmark" value="&quot;H4sIAAAAAAAAA+VYbW/jNgz+K4O/9Es6yK95+XbNtcCA4dYtRYdhCAxZolNdbcuT5F6zIv99lOykrS9Nc90ld9iCIpAoiiYfPqSZPnhc6Lqgyw+0BG/inUl5W1J1+4PvDbyqlREgMMqSeMhjfxTBKAlZgqeyNkJW2ps8eIaqBZhroRtaWEMo/HM+8GhRXNKF3eW00DDwalBaVrQQf0OrjEdGNbAaeHBfF1JRa3JmqAFr9g7VcY8u+D+G+ETKjLiDGTDTSuM8HrKI+jRhUUz8URhHDNV0q+A826piTbvHT2VlqKjwMVY2TqIooDHJRkmchIQkPMusPBeF6VSy5fl9rTA6jHlZW3Cm6OtCKsFo4bkoFOjW6QdvKoumdKvzZ/KZbBSD3yB3R5URZomWcmZS1igFFVumHGqphdHeCrG5VBKRc0ocaJFqBKhpj27kp6kC9IF7E7IabNx6x+9oxVDa9+ndYqFgQU23PT+0w5UsBWY8paVsKpNqrpzGRVN1WSSfhzFHiRbVouhY8piwqzY6VjQaUwL8jKrpDVXG0jH7iHm3WcLbUnFQZ0uXqPdCrRkTDHqBfY9orOZrpuPFj0+43FGtjerg3Jqv7HE8YkkUjuM4isKABD5JfPJqTVzJ+gNmpNWxKtfrQsYEXChZOuWu4+gm+6sBjKqfm9n6ANe/rhe7LFmybyLmokyZBRlUTW18A68lj6uS7kb+9MZ2jB6vYVpmUGA+9se/3TjXeliz2ixT119RvvZGQIGK+JxfjkbfjYf5W6mKyfYmPnFsaaEKniC8b07Q0O83WNEdthUX66B+6oWgvzL8LgaaFfDy9Q1FV/YzX/27Pv8ZCjt8e7nBf733zl7+OAW1/E5cQtLb+//fF6CxhD2//2+99qwoGGU0CIAOQwijcTCMAvCPOINZ4nE7ffYCyIVG4+kSqNrCulfTRTsyzgrBQHVKT3PnlYATtF0sAMdRawLDq1sHBOhHCJ6vvuh16AL7Zi33OYT48GtaNO6XAtr+WZg26odWjPonF3/gwBGdBvGJ1Z+3DOm+Bh7xKR9DROI4C6JkTMIQhvb67rKBe5PJXtm4MScfcZpEhPOAUeJHIWTDV2l3jBaDv8VMWuJIpnCfFpRjgfeRNdLYwW2fxnKIZr2Pi5vjrGG3YN5SQ2+d+f1+8ztGdIeY4d/mSTvGsyAKh2HIQ38IhAZ+5I/DI7bVfVynOpX5Y/P9QnZo11kP3lPLpz11a1TH6q/lTvxeb69W0YgSTrDJxqckPA39K0Im7q/XcAdWmW5Br5Tc4QuOONu7+Hu8weWn6mQ9PH/TSn0G0otFuoHu4C44gB0kW2grG6NryuCSVrAFfUSdVtzWx84MuH+9bcBfrf4B5uUFRvIT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1277</Words>
  <Application>Microsoft Office PowerPoint</Application>
  <PresentationFormat>Custom</PresentationFormat>
  <Paragraphs>235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Power BI</vt:lpstr>
      <vt:lpstr>Microsoft Power BI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Sosa Ny</cp:lastModifiedBy>
  <cp:revision>28</cp:revision>
  <dcterms:created xsi:type="dcterms:W3CDTF">2013-01-27T09:14:16Z</dcterms:created>
  <dcterms:modified xsi:type="dcterms:W3CDTF">2026-05-06T09:52:02Z</dcterms:modified>
  <cp:category/>
</cp:coreProperties>
</file>