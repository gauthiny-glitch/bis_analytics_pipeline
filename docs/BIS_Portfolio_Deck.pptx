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webextensions/webextension1.xml" ContentType="application/vnd.ms-office.webextension+xml"/>
  <Override PartName="/ppt/webextensions/webextension2.xml" ContentType="application/vnd.ms-office.webextension+xml"/>
  <Override PartName="/ppt/webextensions/webextension3.xml" ContentType="application/vnd.ms-office.webextension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8" r:id="rId10"/>
    <p:sldId id="267" r:id="rId11"/>
    <p:sldId id="264" r:id="rId12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1" d="100"/>
          <a:sy n="101" d="100"/>
        </p:scale>
        <p:origin x="876" y="10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microsoft.com/office/2011/relationships/webextension" Target="../webextensions/webextension1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microsoft.com/office/2011/relationships/webextension" Target="../webextensions/webextension2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microsoft.com/office/2011/relationships/webextension" Target="../webextensions/webextension3.xml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6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8412480" y="-914400"/>
            <a:ext cx="4114800" cy="4114800"/>
          </a:xfrm>
          <a:prstGeom prst="ellipse">
            <a:avLst/>
          </a:prstGeom>
          <a:solidFill>
            <a:srgbClr val="2D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9601200" y="3840480"/>
            <a:ext cx="2926080" cy="2926080"/>
          </a:xfrm>
          <a:prstGeom prst="ellipse">
            <a:avLst/>
          </a:prstGeom>
          <a:solidFill>
            <a:srgbClr val="223A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1463040"/>
            <a:ext cx="2011680" cy="292608"/>
          </a:xfrm>
          <a:prstGeom prst="rect">
            <a:avLst/>
          </a:prstGeom>
          <a:solidFill>
            <a:srgbClr val="E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1472184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1" i="0">
                <a:solidFill>
                  <a:srgbClr val="14263D"/>
                </a:solidFill>
                <a:latin typeface="Calibri"/>
              </a:rPr>
              <a:t>PORTFOLIO PROJECT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74519"/>
            <a:ext cx="82296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  <a:latin typeface="Calibri"/>
              </a:rPr>
              <a:t>BIS Analytics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697480"/>
            <a:ext cx="82296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200" b="1" i="0">
                <a:solidFill>
                  <a:srgbClr val="E8A020"/>
                </a:solidFill>
                <a:latin typeface="Calibri"/>
              </a:rPr>
              <a:t>Pipeline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749039"/>
            <a:ext cx="822960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0" dirty="0">
                <a:solidFill>
                  <a:srgbClr val="A0B4CC"/>
                </a:solidFill>
                <a:latin typeface="Calibri"/>
              </a:rPr>
              <a:t>MS Fabric  ·  dbt Core  ·  Power BI  ·  T-SQL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4297680"/>
            <a:ext cx="5943600" cy="18288"/>
          </a:xfrm>
          <a:prstGeom prst="rect">
            <a:avLst/>
          </a:prstGeom>
          <a:solidFill>
            <a:srgbClr val="2D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2920" y="4407408"/>
            <a:ext cx="457200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Gauthier Ny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828032"/>
            <a:ext cx="640080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 i="0">
                <a:solidFill>
                  <a:srgbClr val="A0B4CC"/>
                </a:solidFill>
                <a:latin typeface="Calibri"/>
              </a:rPr>
              <a:t>Candidate — Senior Business Data Analyst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5230368"/>
            <a:ext cx="45720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 i="0">
                <a:solidFill>
                  <a:srgbClr val="64748B"/>
                </a:solidFill>
                <a:latin typeface="Calibri"/>
              </a:rPr>
              <a:t>April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4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82880"/>
            <a:ext cx="91440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Project Overview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E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1170432"/>
            <a:ext cx="1133856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50" b="0" i="0">
                <a:solidFill>
                  <a:srgbClr val="1E293B"/>
                </a:solidFill>
                <a:latin typeface="Calibri"/>
              </a:rPr>
              <a:t>Built a production-grade currency deposit analytics pipeline mirroring the BIS Banking Department tech stack — from synthetic Findur data to published Power BI report.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920240"/>
            <a:ext cx="2560320" cy="1508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11480" y="1920240"/>
            <a:ext cx="64008" cy="1508760"/>
          </a:xfrm>
          <a:prstGeom prst="rect">
            <a:avLst/>
          </a:prstGeom>
          <a:solidFill>
            <a:srgbClr val="1C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94360" y="1993392"/>
            <a:ext cx="2286000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400" b="1" i="0">
                <a:solidFill>
                  <a:srgbClr val="1C3354"/>
                </a:solidFill>
                <a:latin typeface="Calibri"/>
              </a:rPr>
              <a:t>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633472"/>
            <a:ext cx="2286000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dbt models
across 4 layers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46120" y="1920240"/>
            <a:ext cx="2560320" cy="1508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246120" y="1920240"/>
            <a:ext cx="64008" cy="15087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429000" y="1993392"/>
            <a:ext cx="2286000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400" b="1" i="0">
                <a:solidFill>
                  <a:srgbClr val="0D9488"/>
                </a:solidFill>
                <a:latin typeface="Calibri"/>
              </a:rPr>
              <a:t>24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9000" y="2633472"/>
            <a:ext cx="2286000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month-end
as-of dates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80760" y="1920240"/>
            <a:ext cx="2560320" cy="1508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080760" y="1920240"/>
            <a:ext cx="64008" cy="1508760"/>
          </a:xfrm>
          <a:prstGeom prst="rect">
            <a:avLst/>
          </a:prstGeom>
          <a:solidFill>
            <a:srgbClr val="C483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263640" y="1993392"/>
            <a:ext cx="2286000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400" b="1" i="0">
                <a:solidFill>
                  <a:srgbClr val="C48310"/>
                </a:solidFill>
                <a:latin typeface="Calibri"/>
              </a:rPr>
              <a:t>SDR 431bn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2633472"/>
            <a:ext cx="2286000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BIS total assets
replicated scope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15400" y="1920240"/>
            <a:ext cx="2560320" cy="1508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915400" y="1920240"/>
            <a:ext cx="64008" cy="1508760"/>
          </a:xfrm>
          <a:prstGeom prst="rect">
            <a:avLst/>
          </a:prstGeom>
          <a:solidFill>
            <a:srgbClr val="2D9D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098280" y="1993392"/>
            <a:ext cx="2286000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400" b="1" i="0">
                <a:solidFill>
                  <a:srgbClr val="2D9D78"/>
                </a:solidFill>
                <a:latin typeface="Calibri"/>
              </a:rPr>
              <a:t>10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98280" y="2633472"/>
            <a:ext cx="2286000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Power BI visuals
2 report pages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3657600"/>
            <a:ext cx="3749039" cy="2834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411480" y="3657600"/>
            <a:ext cx="3749039" cy="347472"/>
          </a:xfrm>
          <a:prstGeom prst="rect">
            <a:avLst/>
          </a:prstGeom>
          <a:solidFill>
            <a:srgbClr val="1C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48640" y="3694176"/>
            <a:ext cx="347472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WHAT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4114800"/>
            <a:ext cx="35204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• Currency deposit analytics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4626864"/>
            <a:ext cx="35204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• Star schema (1 fact + 4 dims)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5138928"/>
            <a:ext cx="35204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• Maturity ladder mart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5650992"/>
            <a:ext cx="35204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• Fiscal year Apr → Mar (BIS convention)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43400" y="3657600"/>
            <a:ext cx="3749039" cy="2834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4343400" y="3657600"/>
            <a:ext cx="3749039" cy="34747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480560" y="3694176"/>
            <a:ext cx="347472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WHY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80560" y="4114800"/>
            <a:ext cx="35204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• Demonstrates BIS-stack readiness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80560" y="4626864"/>
            <a:ext cx="35204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• Domain: SDR, FIXBIS, MTI, Sight, Notice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80560" y="5138928"/>
            <a:ext cx="35204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• Business logic from Annual Report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80560" y="5650992"/>
            <a:ext cx="35204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• Data validated against p.105-106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275319" y="3657600"/>
            <a:ext cx="3749039" cy="2834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8275319" y="3657600"/>
            <a:ext cx="3749039" cy="347472"/>
          </a:xfrm>
          <a:prstGeom prst="rect">
            <a:avLst/>
          </a:prstGeom>
          <a:solidFill>
            <a:srgbClr val="2D9D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8412480" y="3694176"/>
            <a:ext cx="347472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HOW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12480" y="4114800"/>
            <a:ext cx="35204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• Python → Fabric OneLake → dbt → Power BI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12480" y="4626864"/>
            <a:ext cx="35204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• 9 SQL models, all materialised as views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12480" y="5138928"/>
            <a:ext cx="35204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• Azure CLI auth → Fabric SQL Endpoint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12480" y="5650992"/>
            <a:ext cx="35204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• dbt run PASS=9 / Power BI refresh OK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4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82880"/>
            <a:ext cx="91440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BIS Domain Knowledge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E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109728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 i="1">
                <a:solidFill>
                  <a:srgbClr val="64748B"/>
                </a:solidFill>
                <a:latin typeface="Calibri"/>
              </a:rPr>
              <a:t>All business logic validated against BIS Annual Report 2024/25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536192"/>
            <a:ext cx="5394960" cy="2011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11480" y="1536192"/>
            <a:ext cx="5394960" cy="347472"/>
          </a:xfrm>
          <a:prstGeom prst="rect">
            <a:avLst/>
          </a:prstGeom>
          <a:solidFill>
            <a:srgbClr val="1C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66928" y="1572768"/>
            <a:ext cx="50292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SDR — Unit of Account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0" y="1572768"/>
            <a:ext cx="64008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E8A020"/>
                </a:solidFill>
                <a:latin typeface="Calibri"/>
              </a:rPr>
              <a:t>p.103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993392"/>
            <a:ext cx="512064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Special Drawing Right — IMF basket of 5 currencies: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322576"/>
            <a:ext cx="512064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C48310"/>
                </a:solidFill>
                <a:latin typeface="Calibri"/>
              </a:rPr>
              <a:t>USD · EUR · GBP · JPY · CNY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2651760"/>
            <a:ext cx="512064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BIS reports all figures in SDR — pipeline converts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2980944"/>
            <a:ext cx="512064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every deal to SDR via monthly IMF rate feed.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80760" y="1536192"/>
            <a:ext cx="5696712" cy="2011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080760" y="1536192"/>
            <a:ext cx="5696712" cy="347472"/>
          </a:xfrm>
          <a:prstGeom prst="rect">
            <a:avLst/>
          </a:prstGeom>
          <a:solidFill>
            <a:srgbClr val="1C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236208" y="1572768"/>
            <a:ext cx="530352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BIS Fiscal Year — April to March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09960" y="1572768"/>
            <a:ext cx="5486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E8A020"/>
                </a:solidFill>
                <a:latin typeface="Calibri"/>
              </a:rPr>
              <a:t>p.101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6208" y="1993392"/>
            <a:ext cx="128016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0D9488"/>
                </a:solidFill>
                <a:latin typeface="Calibri"/>
              </a:rPr>
              <a:t>FY2023-24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71231" y="1993392"/>
            <a:ext cx="411480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1 Apr 2023 → 31 Mar 2024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36208" y="2322576"/>
            <a:ext cx="128016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0D9488"/>
                </a:solidFill>
                <a:latin typeface="Calibri"/>
              </a:rPr>
              <a:t>FY2024-25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71231" y="2322576"/>
            <a:ext cx="411480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1 Apr 2024 → 31 Mar 2025  ← current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36208" y="2651760"/>
            <a:ext cx="128016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0D9488"/>
                </a:solidFill>
                <a:latin typeface="Calibri"/>
              </a:rPr>
              <a:t>FQ1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71231" y="2651760"/>
            <a:ext cx="411480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April · May · June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36208" y="2980944"/>
            <a:ext cx="128016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0D9488"/>
                </a:solidFill>
                <a:latin typeface="Calibri"/>
              </a:rPr>
              <a:t>FQ2–FQ4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71231" y="2980944"/>
            <a:ext cx="411480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Jul–Sep · Oct–Dec · Jan–Mar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3703320"/>
            <a:ext cx="5394960" cy="2834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411480" y="3703320"/>
            <a:ext cx="5394960" cy="34747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66928" y="3739896"/>
            <a:ext cx="50292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Deposit Products (Findur codes)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20640" y="3739896"/>
            <a:ext cx="64008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E8A020"/>
                </a:solidFill>
                <a:latin typeface="Calibri"/>
              </a:rPr>
              <a:t>p.105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4160520"/>
            <a:ext cx="141732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 i="0">
                <a:solidFill>
                  <a:srgbClr val="0D9488"/>
                </a:solidFill>
                <a:latin typeface="Consolas"/>
              </a:rPr>
              <a:t>FIXBIS_DEP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29968" y="4160520"/>
            <a:ext cx="3639312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Fixed-rate deposit — fixed term &amp; rate. Most common.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4672583"/>
            <a:ext cx="141732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 i="0">
                <a:solidFill>
                  <a:srgbClr val="0D9488"/>
                </a:solidFill>
                <a:latin typeface="Consolas"/>
              </a:rPr>
              <a:t>MTI_DEP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29968" y="4672583"/>
            <a:ext cx="3639312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Medium-term instrument — 1–10yr tenor.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5184648"/>
            <a:ext cx="141732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 i="0">
                <a:solidFill>
                  <a:srgbClr val="0D9488"/>
                </a:solidFill>
                <a:latin typeface="Consolas"/>
              </a:rPr>
              <a:t>SIGHT_DEP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29968" y="5184648"/>
            <a:ext cx="3639312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On-demand / overnight. No maturity date.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5696712"/>
            <a:ext cx="141732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 i="0">
                <a:solidFill>
                  <a:srgbClr val="0D9488"/>
                </a:solidFill>
                <a:latin typeface="Consolas"/>
              </a:rPr>
              <a:t>NOTICE_DEP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029968" y="5696712"/>
            <a:ext cx="3639312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Redeemable after advance notice period.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80760" y="3703320"/>
            <a:ext cx="5696712" cy="2834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6080760" y="3703320"/>
            <a:ext cx="5696712" cy="347472"/>
          </a:xfrm>
          <a:prstGeom prst="rect">
            <a:avLst/>
          </a:prstGeom>
          <a:solidFill>
            <a:srgbClr val="2D9D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236208" y="3739896"/>
            <a:ext cx="530352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Geographic Distribution of Deposits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109960" y="3739896"/>
            <a:ext cx="5486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E8A020"/>
                </a:solidFill>
                <a:latin typeface="Calibri"/>
              </a:rPr>
              <a:t>p.106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36208" y="4160520"/>
            <a:ext cx="214884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Asia-Pacific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30768" y="4160520"/>
            <a:ext cx="59436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 i="0">
                <a:solidFill>
                  <a:srgbClr val="2D9D78"/>
                </a:solidFill>
                <a:latin typeface="Calibri"/>
              </a:rPr>
              <a:t>61%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099299" y="4224528"/>
            <a:ext cx="2607812" cy="155448"/>
          </a:xfrm>
          <a:prstGeom prst="rect">
            <a:avLst/>
          </a:prstGeom>
          <a:solidFill>
            <a:srgbClr val="2D9D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236208" y="4526280"/>
            <a:ext cx="214884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Americas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30768" y="4526280"/>
            <a:ext cx="59436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 i="0">
                <a:solidFill>
                  <a:srgbClr val="0D9488"/>
                </a:solidFill>
                <a:latin typeface="Calibri"/>
              </a:rPr>
              <a:t> 9%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098280" y="4590288"/>
            <a:ext cx="475488" cy="15544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236208" y="4892040"/>
            <a:ext cx="214884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Europe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30768" y="4892040"/>
            <a:ext cx="59436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 i="0">
                <a:solidFill>
                  <a:srgbClr val="1C3354"/>
                </a:solidFill>
                <a:latin typeface="Calibri"/>
              </a:rPr>
              <a:t> 8%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098280" y="4956048"/>
            <a:ext cx="420624" cy="155448"/>
          </a:xfrm>
          <a:prstGeom prst="rect">
            <a:avLst/>
          </a:prstGeom>
          <a:solidFill>
            <a:srgbClr val="1C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236208" y="5257800"/>
            <a:ext cx="214884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Middle East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430768" y="5257800"/>
            <a:ext cx="59436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 i="0">
                <a:solidFill>
                  <a:srgbClr val="C48310"/>
                </a:solidFill>
                <a:latin typeface="Calibri"/>
              </a:rPr>
              <a:t> 7%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098280" y="5321808"/>
            <a:ext cx="365760" cy="155448"/>
          </a:xfrm>
          <a:prstGeom prst="rect">
            <a:avLst/>
          </a:prstGeom>
          <a:solidFill>
            <a:srgbClr val="C483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6236208" y="5623560"/>
            <a:ext cx="214884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Africa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430768" y="5623560"/>
            <a:ext cx="59436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 i="0">
                <a:solidFill>
                  <a:srgbClr val="64748B"/>
                </a:solidFill>
                <a:latin typeface="Calibri"/>
              </a:rPr>
              <a:t> 6%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098280" y="5687568"/>
            <a:ext cx="320040" cy="155448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6236208" y="5989320"/>
            <a:ext cx="214884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International institutions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430768" y="5989320"/>
            <a:ext cx="59436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 i="0">
                <a:solidFill>
                  <a:srgbClr val="5B6B7E"/>
                </a:solidFill>
                <a:latin typeface="Calibri"/>
              </a:rPr>
              <a:t> 9%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098280" y="6053328"/>
            <a:ext cx="475488" cy="155448"/>
          </a:xfrm>
          <a:prstGeom prst="rect">
            <a:avLst/>
          </a:prstGeom>
          <a:solidFill>
            <a:srgbClr val="5B6B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4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82880"/>
            <a:ext cx="91440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Pipeline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E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320040" y="1280160"/>
            <a:ext cx="2103120" cy="2194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20040" y="1280160"/>
            <a:ext cx="2103120" cy="256032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11479" y="1307592"/>
            <a:ext cx="192024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SOURCE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79" y="1627632"/>
            <a:ext cx="19202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64748B"/>
                </a:solidFill>
                <a:latin typeface="Calibri"/>
              </a:rPr>
              <a:t>Openlink
Findur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79" y="2322576"/>
            <a:ext cx="19202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 i="0">
                <a:solidFill>
                  <a:srgbClr val="64748B"/>
                </a:solidFill>
                <a:latin typeface="Calibri"/>
              </a:rPr>
              <a:t>Simulated via
Python CSV</a:t>
            </a:r>
          </a:p>
        </p:txBody>
      </p:sp>
      <p:sp>
        <p:nvSpPr>
          <p:cNvPr id="10" name="Rectangle 9"/>
          <p:cNvSpPr/>
          <p:nvPr/>
        </p:nvSpPr>
        <p:spPr>
          <a:xfrm>
            <a:off x="2441448" y="2267712"/>
            <a:ext cx="384048" cy="109728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697480" y="2084831"/>
            <a:ext cx="347472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&gt;&gt;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7480" y="1280160"/>
            <a:ext cx="2103120" cy="2194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2697480" y="1280160"/>
            <a:ext cx="2103120" cy="256032"/>
          </a:xfrm>
          <a:prstGeom prst="rect">
            <a:avLst/>
          </a:prstGeom>
          <a:solidFill>
            <a:srgbClr val="1C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788920" y="1307592"/>
            <a:ext cx="192024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INGEST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1627632"/>
            <a:ext cx="19202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1C3354"/>
                </a:solidFill>
                <a:latin typeface="Calibri"/>
              </a:rPr>
              <a:t>PySpark
Notebook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88920" y="2322576"/>
            <a:ext cx="19202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 i="0">
                <a:solidFill>
                  <a:srgbClr val="64748B"/>
                </a:solidFill>
                <a:latin typeface="Calibri"/>
              </a:rPr>
              <a:t>CSV → Delta
tables (OneLake)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18888" y="2267712"/>
            <a:ext cx="384048" cy="109728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074920" y="2084831"/>
            <a:ext cx="347472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&gt;&gt;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74920" y="1280160"/>
            <a:ext cx="2103120" cy="2194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074920" y="1280160"/>
            <a:ext cx="2103120" cy="25603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166359" y="1307592"/>
            <a:ext cx="192024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TRANSFORM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66359" y="1627632"/>
            <a:ext cx="19202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0D9488"/>
                </a:solidFill>
                <a:latin typeface="Calibri"/>
              </a:rPr>
              <a:t>dbt Core
9 models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66359" y="2322576"/>
            <a:ext cx="19202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 i="0">
                <a:solidFill>
                  <a:srgbClr val="64748B"/>
                </a:solidFill>
                <a:latin typeface="Calibri"/>
              </a:rPr>
              <a:t>4 layers:
stg→int→mart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96327" y="2267712"/>
            <a:ext cx="384048" cy="109728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452360" y="2084831"/>
            <a:ext cx="347472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&gt;&gt;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452360" y="1280160"/>
            <a:ext cx="2103120" cy="2194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452360" y="1280160"/>
            <a:ext cx="2103120" cy="256032"/>
          </a:xfrm>
          <a:prstGeom prst="rect">
            <a:avLst/>
          </a:prstGeom>
          <a:solidFill>
            <a:srgbClr val="2D9D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543800" y="1307592"/>
            <a:ext cx="192024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MODEL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43800" y="1627632"/>
            <a:ext cx="19202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2D9D78"/>
                </a:solidFill>
                <a:latin typeface="Calibri"/>
              </a:rPr>
              <a:t>Semantic
Model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43800" y="2322576"/>
            <a:ext cx="19202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 i="0">
                <a:solidFill>
                  <a:srgbClr val="64748B"/>
                </a:solidFill>
                <a:latin typeface="Calibri"/>
              </a:rPr>
              <a:t>Import mode
Power BI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73768" y="2267712"/>
            <a:ext cx="384048" cy="109728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829800" y="2084831"/>
            <a:ext cx="347472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&gt;&gt;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829800" y="1280160"/>
            <a:ext cx="2103120" cy="2194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9829800" y="1280160"/>
            <a:ext cx="2103120" cy="256032"/>
          </a:xfrm>
          <a:prstGeom prst="rect">
            <a:avLst/>
          </a:prstGeom>
          <a:solidFill>
            <a:srgbClr val="C483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9921240" y="1307592"/>
            <a:ext cx="192024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REPORT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21240" y="1627632"/>
            <a:ext cx="19202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C48310"/>
                </a:solidFill>
                <a:latin typeface="Calibri"/>
              </a:rPr>
              <a:t>Power BI
Report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921240" y="2322576"/>
            <a:ext cx="19202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 i="0">
                <a:solidFill>
                  <a:srgbClr val="64748B"/>
                </a:solidFill>
                <a:latin typeface="Calibri"/>
              </a:rPr>
              <a:t>2 pages · 10 visuals
4 slicers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1479" y="3675887"/>
            <a:ext cx="20116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0" i="0">
                <a:solidFill>
                  <a:srgbClr val="64748B"/>
                </a:solidFill>
                <a:latin typeface="Consolas"/>
              </a:rPr>
              <a:t>findur_export.csv
src_deals · src_fx_rates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88920" y="3675887"/>
            <a:ext cx="20116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0" i="0">
                <a:solidFill>
                  <a:srgbClr val="64748B"/>
                </a:solidFill>
                <a:latin typeface="Consolas"/>
              </a:rPr>
              <a:t>bis_raw Lakehouse
Delta / Parquet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166359" y="3675887"/>
            <a:ext cx="20116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0" i="0">
                <a:solidFill>
                  <a:srgbClr val="64748B"/>
                </a:solidFill>
                <a:latin typeface="Consolas"/>
              </a:rPr>
              <a:t>bis_analytics
SQL views (T-SQL)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543800" y="3675887"/>
            <a:ext cx="20116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0" i="0">
                <a:solidFill>
                  <a:srgbClr val="64748B"/>
                </a:solidFill>
                <a:latin typeface="Consolas"/>
              </a:rPr>
              <a:t>VertiPaq engine
DAX measures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21240" y="3675887"/>
            <a:ext cx="20116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0" i="0">
                <a:solidFill>
                  <a:srgbClr val="64748B"/>
                </a:solidFill>
                <a:latin typeface="Consolas"/>
              </a:rPr>
              <a:t>Page 1: Deposits
Page 2: Maturity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20040" y="4480560"/>
            <a:ext cx="11548872" cy="1115568"/>
          </a:xfrm>
          <a:prstGeom prst="rect">
            <a:avLst/>
          </a:prstGeom>
          <a:solidFill>
            <a:srgbClr val="E8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320040" y="4480560"/>
            <a:ext cx="64008" cy="1115568"/>
          </a:xfrm>
          <a:prstGeom prst="rect">
            <a:avLst/>
          </a:prstGeom>
          <a:solidFill>
            <a:srgbClr val="1C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502920" y="4544568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1C3354"/>
                </a:solidFill>
                <a:latin typeface="Calibri"/>
              </a:rPr>
              <a:t>In BIS production: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2920" y="4864608"/>
            <a:ext cx="1115568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Findur → Fabric Data Factory  ·  dbt Cloud or dbt Core  ·  Direct Lake (Delta tables)  ·  Power BI Service with RLS  ·  Azure DevOps CI/CD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2920" y="5248656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1">
                <a:solidFill>
                  <a:srgbClr val="64748B"/>
                </a:solidFill>
                <a:latin typeface="Calibri"/>
              </a:rPr>
              <a:t>Architecture is identical — the project uses the same tools at every layer.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11480" y="5806440"/>
            <a:ext cx="2176272" cy="320040"/>
          </a:xfrm>
          <a:prstGeom prst="rect">
            <a:avLst/>
          </a:prstGeom>
          <a:solidFill>
            <a:srgbClr val="14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411480" y="5824727"/>
            <a:ext cx="217627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MS Fabric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761488" y="5806440"/>
            <a:ext cx="2176272" cy="320040"/>
          </a:xfrm>
          <a:prstGeom prst="rect">
            <a:avLst/>
          </a:prstGeom>
          <a:solidFill>
            <a:srgbClr val="14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2761488" y="5824727"/>
            <a:ext cx="217627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dbt Core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111496" y="5806440"/>
            <a:ext cx="2176272" cy="320040"/>
          </a:xfrm>
          <a:prstGeom prst="rect">
            <a:avLst/>
          </a:prstGeom>
          <a:solidFill>
            <a:srgbClr val="14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5111496" y="5824727"/>
            <a:ext cx="217627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T-SQL / Views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461503" y="5806440"/>
            <a:ext cx="2176272" cy="320040"/>
          </a:xfrm>
          <a:prstGeom prst="rect">
            <a:avLst/>
          </a:prstGeom>
          <a:solidFill>
            <a:srgbClr val="14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7461503" y="5824727"/>
            <a:ext cx="217627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Power BI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811511" y="5806440"/>
            <a:ext cx="2176272" cy="320040"/>
          </a:xfrm>
          <a:prstGeom prst="rect">
            <a:avLst/>
          </a:prstGeom>
          <a:solidFill>
            <a:srgbClr val="14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9811511" y="5824727"/>
            <a:ext cx="217627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Azure CLI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4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82880"/>
            <a:ext cx="91440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Data Model — Star Schema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E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11480" y="1115568"/>
            <a:ext cx="1417320" cy="658368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12" y="1170432"/>
            <a:ext cx="1371600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STAGING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1965960" y="1115568"/>
            <a:ext cx="9811512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965960" y="1115568"/>
            <a:ext cx="54864" cy="658368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148840" y="1152144"/>
            <a:ext cx="50292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 i="0">
                <a:solidFill>
                  <a:srgbClr val="64748B"/>
                </a:solidFill>
                <a:latin typeface="Consolas"/>
              </a:rPr>
              <a:t>stg_deals · stg_fx_rates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48840" y="1444752"/>
            <a:ext cx="75895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 i="0" dirty="0">
                <a:solidFill>
                  <a:srgbClr val="64748B"/>
                </a:solidFill>
                <a:latin typeface="Calibri"/>
              </a:rPr>
              <a:t>type casting · no aggregation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901952"/>
            <a:ext cx="1417320" cy="658368"/>
          </a:xfrm>
          <a:prstGeom prst="rect">
            <a:avLst/>
          </a:prstGeom>
          <a:solidFill>
            <a:srgbClr val="4E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38912" y="1956816"/>
            <a:ext cx="1371600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INTERMEDIATE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965960" y="1901952"/>
            <a:ext cx="9811512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1965960" y="1901952"/>
            <a:ext cx="54864" cy="658368"/>
          </a:xfrm>
          <a:prstGeom prst="rect">
            <a:avLst/>
          </a:prstGeom>
          <a:solidFill>
            <a:srgbClr val="4E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148840" y="1938528"/>
            <a:ext cx="50292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 i="0">
                <a:solidFill>
                  <a:srgbClr val="4E9A9A"/>
                </a:solidFill>
                <a:latin typeface="Consolas"/>
              </a:rPr>
              <a:t>int_deals_with_sdr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48840" y="2231136"/>
            <a:ext cx="75895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 i="0">
                <a:solidFill>
                  <a:srgbClr val="64748B"/>
                </a:solidFill>
                <a:latin typeface="Calibri"/>
              </a:rPr>
              <a:t>LEFT JOIN to FX rates · SDR calc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688336"/>
            <a:ext cx="1417320" cy="658368"/>
          </a:xfrm>
          <a:prstGeom prst="rect">
            <a:avLst/>
          </a:prstGeom>
          <a:solidFill>
            <a:srgbClr val="C483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38912" y="2743200"/>
            <a:ext cx="1371600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MART · DIM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965960" y="2688336"/>
            <a:ext cx="9811512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1965960" y="2688336"/>
            <a:ext cx="54864" cy="658368"/>
          </a:xfrm>
          <a:prstGeom prst="rect">
            <a:avLst/>
          </a:prstGeom>
          <a:solidFill>
            <a:srgbClr val="C483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148840" y="2724912"/>
            <a:ext cx="50292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 i="0">
                <a:solidFill>
                  <a:srgbClr val="C48310"/>
                </a:solidFill>
                <a:latin typeface="Consolas"/>
              </a:rPr>
              <a:t>dim_counterparty · dim_currency · dim_product · dim_date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48840" y="3017520"/>
            <a:ext cx="75895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 i="0">
                <a:solidFill>
                  <a:srgbClr val="64748B"/>
                </a:solidFill>
                <a:latin typeface="Calibri"/>
              </a:rPr>
              <a:t>lookup + classification tables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3474720"/>
            <a:ext cx="1417320" cy="658368"/>
          </a:xfrm>
          <a:prstGeom prst="rect">
            <a:avLst/>
          </a:prstGeom>
          <a:solidFill>
            <a:srgbClr val="1C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38912" y="3529584"/>
            <a:ext cx="1371600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MART · FACT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965960" y="3474720"/>
            <a:ext cx="9811512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1965960" y="3474720"/>
            <a:ext cx="54864" cy="658368"/>
          </a:xfrm>
          <a:prstGeom prst="rect">
            <a:avLst/>
          </a:prstGeom>
          <a:solidFill>
            <a:srgbClr val="1C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2148840" y="3511296"/>
            <a:ext cx="50292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 i="0">
                <a:solidFill>
                  <a:srgbClr val="1C3354"/>
                </a:solidFill>
                <a:latin typeface="Consolas"/>
              </a:rPr>
              <a:t>fct_currency_deposits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48840" y="3803904"/>
            <a:ext cx="75895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 i="0">
                <a:solidFill>
                  <a:srgbClr val="64748B"/>
                </a:solidFill>
                <a:latin typeface="Calibri"/>
              </a:rPr>
              <a:t>grain: deal_id · 4 FK + 3 date FK · 4 measures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4261104"/>
            <a:ext cx="1417320" cy="658368"/>
          </a:xfrm>
          <a:prstGeom prst="rect">
            <a:avLst/>
          </a:prstGeom>
          <a:solidFill>
            <a:srgbClr val="2D9D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38912" y="4315968"/>
            <a:ext cx="1371600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ANALYTICS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965960" y="4261104"/>
            <a:ext cx="9811512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1965960" y="4261104"/>
            <a:ext cx="54864" cy="658368"/>
          </a:xfrm>
          <a:prstGeom prst="rect">
            <a:avLst/>
          </a:prstGeom>
          <a:solidFill>
            <a:srgbClr val="2D9D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2148840" y="4297680"/>
            <a:ext cx="50292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 i="0">
                <a:solidFill>
                  <a:srgbClr val="2D9D78"/>
                </a:solidFill>
                <a:latin typeface="Consolas"/>
              </a:rPr>
              <a:t>mart_maturity_ladder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148840" y="4590288"/>
            <a:ext cx="75895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 i="0">
                <a:solidFill>
                  <a:srgbClr val="64748B"/>
                </a:solidFill>
                <a:latin typeface="Calibri"/>
              </a:rPr>
              <a:t>24 as-of dates × 7 buckets · standalone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51560" y="1773936"/>
            <a:ext cx="45720" cy="128016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1051560" y="2560320"/>
            <a:ext cx="45720" cy="128016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1051560" y="3346704"/>
            <a:ext cx="45720" cy="128016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1051560" y="4133087"/>
            <a:ext cx="45720" cy="128016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7772400" y="1115568"/>
            <a:ext cx="4114800" cy="51663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7909560" y="1170432"/>
            <a:ext cx="3840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1C3354"/>
                </a:solidFill>
                <a:latin typeface="Calibri"/>
              </a:rPr>
              <a:t>Star Schema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253728" y="2286000"/>
            <a:ext cx="1307592" cy="1417320"/>
          </a:xfrm>
          <a:prstGeom prst="rect">
            <a:avLst/>
          </a:prstGeom>
          <a:solidFill>
            <a:srgbClr val="1C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8823960" y="2423160"/>
            <a:ext cx="178308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fct_currency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23960" y="2788920"/>
            <a:ext cx="17830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_deposits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823960" y="3108960"/>
            <a:ext cx="17830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1" i="0">
                <a:solidFill>
                  <a:srgbClr val="E8A020"/>
                </a:solidFill>
                <a:latin typeface="Calibri"/>
              </a:rPr>
              <a:t>[ FACT ]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188958" y="1389888"/>
            <a:ext cx="1280160" cy="47548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9234678" y="1481328"/>
            <a:ext cx="1188719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date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818120" y="2766060"/>
            <a:ext cx="1216729" cy="320040"/>
          </a:xfrm>
          <a:prstGeom prst="rect">
            <a:avLst/>
          </a:prstGeom>
          <a:solidFill>
            <a:srgbClr val="C483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7863840" y="2788920"/>
            <a:ext cx="128016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counterparty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716768" y="2697480"/>
            <a:ext cx="1280160" cy="475488"/>
          </a:xfrm>
          <a:prstGeom prst="rect">
            <a:avLst/>
          </a:prstGeom>
          <a:solidFill>
            <a:srgbClr val="2D9D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10762488" y="2788920"/>
            <a:ext cx="1188719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currency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274683" y="4251960"/>
            <a:ext cx="1280160" cy="475488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9320403" y="4343400"/>
            <a:ext cx="1188719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product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902190" y="1865376"/>
            <a:ext cx="36576" cy="420624"/>
          </a:xfrm>
          <a:prstGeom prst="rect">
            <a:avLst/>
          </a:prstGeom>
          <a:solidFill>
            <a:srgbClr val="B0B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9063355" y="2926080"/>
            <a:ext cx="164337" cy="36576"/>
          </a:xfrm>
          <a:prstGeom prst="rect">
            <a:avLst/>
          </a:prstGeom>
          <a:solidFill>
            <a:srgbClr val="B0B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10589919" y="2926080"/>
            <a:ext cx="105108" cy="36576"/>
          </a:xfrm>
          <a:prstGeom prst="rect">
            <a:avLst/>
          </a:prstGeom>
          <a:solidFill>
            <a:srgbClr val="B0B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ectangle 55"/>
          <p:cNvSpPr/>
          <p:nvPr/>
        </p:nvSpPr>
        <p:spPr>
          <a:xfrm>
            <a:off x="9987915" y="3703320"/>
            <a:ext cx="36576" cy="548640"/>
          </a:xfrm>
          <a:prstGeom prst="rect">
            <a:avLst/>
          </a:prstGeom>
          <a:solidFill>
            <a:srgbClr val="B0B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7818120" y="5029200"/>
            <a:ext cx="3749039" cy="475488"/>
          </a:xfrm>
          <a:prstGeom prst="rect">
            <a:avLst/>
          </a:prstGeom>
          <a:solidFill>
            <a:srgbClr val="2D9D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7882127" y="5093208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mart_maturity_ladder  (standalone)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4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82880"/>
            <a:ext cx="109728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Maturity Ladder — Liquidity Risk Analytics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E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11480" y="1115568"/>
            <a:ext cx="5577840" cy="5440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11480" y="1115568"/>
            <a:ext cx="5577840" cy="347472"/>
          </a:xfrm>
          <a:prstGeom prst="rect">
            <a:avLst/>
          </a:prstGeom>
          <a:solidFill>
            <a:srgbClr val="1C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66928" y="1152144"/>
            <a:ext cx="530352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What is a maturity ladder?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572768"/>
            <a:ext cx="5230368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A liquidity risk report showing how much of the deposit book matures in each time window at a specific point in time. Used daily by BIS treasury and risk teams.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956816"/>
            <a:ext cx="5230368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66928" y="2340864"/>
            <a:ext cx="5230368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7 maturity buckets: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724912"/>
            <a:ext cx="91440" cy="27432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13232" y="2706624"/>
            <a:ext cx="155448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64748B"/>
                </a:solidFill>
                <a:latin typeface="Consolas"/>
              </a:rPr>
              <a:t>1. Overnight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04288" y="2706624"/>
            <a:ext cx="333756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Sight accounts — redeemable any time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3072384"/>
            <a:ext cx="91440" cy="2743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13232" y="3054096"/>
            <a:ext cx="155448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0D9488"/>
                </a:solidFill>
                <a:latin typeface="Consolas"/>
              </a:rPr>
              <a:t>2. ≤ 1 Week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04288" y="3054096"/>
            <a:ext cx="333756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days_to_maturity ≤ 7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3419856"/>
            <a:ext cx="91440" cy="274320"/>
          </a:xfrm>
          <a:prstGeom prst="rect">
            <a:avLst/>
          </a:prstGeom>
          <a:solidFill>
            <a:srgbClr val="2D9D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13232" y="3401568"/>
            <a:ext cx="155448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2D9D78"/>
                </a:solidFill>
                <a:latin typeface="Consolas"/>
              </a:rPr>
              <a:t>3. ≤ 1 Month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3401568"/>
            <a:ext cx="333756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days_to_maturity ≤ 30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3767328"/>
            <a:ext cx="91440" cy="274320"/>
          </a:xfrm>
          <a:prstGeom prst="rect">
            <a:avLst/>
          </a:prstGeom>
          <a:solidFill>
            <a:srgbClr val="1C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13232" y="3749040"/>
            <a:ext cx="155448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1C3354"/>
                </a:solidFill>
                <a:latin typeface="Consolas"/>
              </a:rPr>
              <a:t>4. ≤ 3 Months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04288" y="3749040"/>
            <a:ext cx="333756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days_to_maturity ≤ 90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4114800"/>
            <a:ext cx="91440" cy="274320"/>
          </a:xfrm>
          <a:prstGeom prst="rect">
            <a:avLst/>
          </a:prstGeom>
          <a:solidFill>
            <a:srgbClr val="C483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13232" y="4096512"/>
            <a:ext cx="155448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C48310"/>
                </a:solidFill>
                <a:latin typeface="Consolas"/>
              </a:rPr>
              <a:t>5. ≤ 6 Months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04288" y="4096512"/>
            <a:ext cx="333756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days_to_maturity ≤ 180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4462272"/>
            <a:ext cx="91440" cy="2743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13232" y="4443984"/>
            <a:ext cx="155448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7C3AED"/>
                </a:solidFill>
                <a:latin typeface="Consolas"/>
              </a:rPr>
              <a:t>6. ≤ 1 Year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04288" y="4443984"/>
            <a:ext cx="333756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days_to_maturity ≤ 365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" y="4809744"/>
            <a:ext cx="91440" cy="274320"/>
          </a:xfrm>
          <a:prstGeom prst="rect">
            <a:avLst/>
          </a:prstGeom>
          <a:solidFill>
            <a:srgbClr val="DC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13232" y="4791456"/>
            <a:ext cx="155448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DC2B2B"/>
                </a:solidFill>
                <a:latin typeface="Consolas"/>
              </a:rPr>
              <a:t>7. &gt; 1 Year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04288" y="4791456"/>
            <a:ext cx="333756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days_to_maturity &gt; 365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63640" y="1115568"/>
            <a:ext cx="5605272" cy="5440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6263640" y="1115568"/>
            <a:ext cx="5605272" cy="34747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419088" y="1152144"/>
            <a:ext cx="530352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How it's built — hybrid approach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55080" y="1572768"/>
            <a:ext cx="384048" cy="384048"/>
          </a:xfrm>
          <a:prstGeom prst="rect">
            <a:avLst/>
          </a:prstGeom>
          <a:solidFill>
            <a:srgbClr val="1C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355080" y="1609344"/>
            <a:ext cx="384048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30568" y="1572768"/>
            <a:ext cx="20116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1C3354"/>
                </a:solidFill>
                <a:latin typeface="Calibri"/>
              </a:rPr>
              <a:t>CROSS JOIN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0568" y="1810512"/>
            <a:ext cx="484632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500 active deals × 24 month-ends
= 12,000 (deal, as-of date) pairs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55080" y="2395728"/>
            <a:ext cx="384048" cy="38404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355080" y="2432304"/>
            <a:ext cx="384048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30568" y="2395728"/>
            <a:ext cx="20116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0D9488"/>
                </a:solidFill>
                <a:latin typeface="Calibri"/>
              </a:rPr>
              <a:t>days_to_maturity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0568" y="2633472"/>
            <a:ext cx="484632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DATEDIFF(day, as_of_date,
maturity_date) per pair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55080" y="3218688"/>
            <a:ext cx="384048" cy="384048"/>
          </a:xfrm>
          <a:prstGeom prst="rect">
            <a:avLst/>
          </a:prstGeom>
          <a:solidFill>
            <a:srgbClr val="2D9D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355080" y="3255264"/>
            <a:ext cx="384048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30568" y="3218688"/>
            <a:ext cx="20116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2D9D78"/>
                </a:solidFill>
                <a:latin typeface="Calibri"/>
              </a:rPr>
              <a:t>Bucket logic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0568" y="3456432"/>
            <a:ext cx="484632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CASE WHEN in dbt SQL assigns
each pair to 1 of 7 buckets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355080" y="4041648"/>
            <a:ext cx="384048" cy="384048"/>
          </a:xfrm>
          <a:prstGeom prst="rect">
            <a:avLst/>
          </a:prstGeom>
          <a:solidFill>
            <a:srgbClr val="C483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355080" y="4078224"/>
            <a:ext cx="384048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30568" y="4041648"/>
            <a:ext cx="20116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C48310"/>
                </a:solidFill>
                <a:latin typeface="Calibri"/>
              </a:rPr>
              <a:t>Aggregate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830568" y="4279392"/>
            <a:ext cx="484632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COUNT + SUM per (as_of_date,
bucket) → 71 rows output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355080" y="4864608"/>
            <a:ext cx="384048" cy="384048"/>
          </a:xfrm>
          <a:prstGeom prst="rect">
            <a:avLst/>
          </a:prstGeom>
          <a:solidFill>
            <a:srgbClr val="1C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355080" y="4901184"/>
            <a:ext cx="384048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830568" y="4864608"/>
            <a:ext cx="20116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1C3354"/>
                </a:solidFill>
                <a:latin typeface="Calibri"/>
              </a:rPr>
              <a:t>Power BI slicer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830568" y="5102352"/>
            <a:ext cx="484632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User picks as_of_date →
chart shows that snapshot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355080" y="5742432"/>
            <a:ext cx="5303520" cy="566928"/>
          </a:xfrm>
          <a:prstGeom prst="rect">
            <a:avLst/>
          </a:prstGeom>
          <a:solidFill>
            <a:srgbClr val="E8F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ectangle 55"/>
          <p:cNvSpPr/>
          <p:nvPr/>
        </p:nvSpPr>
        <p:spPr>
          <a:xfrm>
            <a:off x="6355080" y="5742432"/>
            <a:ext cx="64008" cy="566928"/>
          </a:xfrm>
          <a:prstGeom prst="rect">
            <a:avLst/>
          </a:prstGeom>
          <a:solidFill>
            <a:srgbClr val="2D9D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6492240" y="5833872"/>
            <a:ext cx="502920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2D9D78"/>
                </a:solidFill>
                <a:latin typeface="Calibri"/>
              </a:rPr>
              <a:t>✓  71 rows · 24 dates × up to 7 buckets · dbt run PASS=1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4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82880"/>
            <a:ext cx="91440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Power BI Report — Deliverables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E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11480" y="1115568"/>
            <a:ext cx="5440680" cy="5440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11480" y="1115568"/>
            <a:ext cx="5440680" cy="365760"/>
          </a:xfrm>
          <a:prstGeom prst="rect">
            <a:avLst/>
          </a:prstGeom>
          <a:solidFill>
            <a:srgbClr val="1C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66928" y="1152144"/>
            <a:ext cx="5120640" cy="3017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Page 1 — Deposit Book Overview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627632"/>
            <a:ext cx="91440" cy="640080"/>
          </a:xfrm>
          <a:prstGeom prst="rect">
            <a:avLst/>
          </a:prstGeom>
          <a:solidFill>
            <a:srgbClr val="1C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1645920"/>
            <a:ext cx="19202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1C3354"/>
                </a:solidFill>
                <a:latin typeface="Calibri"/>
              </a:rPr>
              <a:t>Stacked bar chart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938528"/>
            <a:ext cx="493776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Total SDR by Region — 6 regions, matches Annual Report Graph 4.3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523744"/>
            <a:ext cx="91440" cy="640080"/>
          </a:xfrm>
          <a:prstGeom prst="rect">
            <a:avLst/>
          </a:prstGeom>
          <a:solidFill>
            <a:srgbClr val="1C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2542032"/>
            <a:ext cx="19202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1C3354"/>
                </a:solidFill>
                <a:latin typeface="Calibri"/>
              </a:rPr>
              <a:t>Grouped bar chart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834640"/>
            <a:ext cx="493776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Deposits by Fiscal Year — FY2023-24 vs FY2024-25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419856"/>
            <a:ext cx="91440" cy="640080"/>
          </a:xfrm>
          <a:prstGeom prst="rect">
            <a:avLst/>
          </a:prstGeom>
          <a:solidFill>
            <a:srgbClr val="1C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85800" y="3438144"/>
            <a:ext cx="19202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1C3354"/>
                </a:solidFill>
                <a:latin typeface="Calibri"/>
              </a:rPr>
              <a:t>Slicer (dropdown)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3730752"/>
            <a:ext cx="493776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Fiscal Year filter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4315968"/>
            <a:ext cx="91440" cy="640080"/>
          </a:xfrm>
          <a:prstGeom prst="rect">
            <a:avLst/>
          </a:prstGeom>
          <a:solidFill>
            <a:srgbClr val="1C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85800" y="4334256"/>
            <a:ext cx="19202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1C3354"/>
                </a:solidFill>
                <a:latin typeface="Calibri"/>
              </a:rPr>
              <a:t>Slicer (dropdown)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626864"/>
            <a:ext cx="493776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Currency filter (10 currencies)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5212080"/>
            <a:ext cx="91440" cy="640080"/>
          </a:xfrm>
          <a:prstGeom prst="rect">
            <a:avLst/>
          </a:prstGeom>
          <a:solidFill>
            <a:srgbClr val="1C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85800" y="5230368"/>
            <a:ext cx="19202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1C3354"/>
                </a:solidFill>
                <a:latin typeface="Calibri"/>
              </a:rPr>
              <a:t>KPI cards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5522976"/>
            <a:ext cx="493776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Total SDR · Deal Count · Avg Rate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09360" y="1115568"/>
            <a:ext cx="5468112" cy="5440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309360" y="1115568"/>
            <a:ext cx="5468112" cy="3657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64808" y="1152144"/>
            <a:ext cx="5120640" cy="3017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Page 2 — Counterparty &amp; Maturity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0" y="1627632"/>
            <a:ext cx="91440" cy="64008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583680" y="1645920"/>
            <a:ext cx="18288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0D9488"/>
                </a:solidFill>
                <a:latin typeface="Calibri"/>
              </a:rPr>
              <a:t>Table visual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1938528"/>
            <a:ext cx="493776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Top counterparties: cpty_name · region · total SDR (Bn)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0" y="2523744"/>
            <a:ext cx="91440" cy="64008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583680" y="2542032"/>
            <a:ext cx="18288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0D9488"/>
                </a:solidFill>
                <a:latin typeface="Calibri"/>
              </a:rPr>
              <a:t>Bar chart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0" y="2834640"/>
            <a:ext cx="493776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Maturity ladder — 7 buckets, sorted by time horizon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3419856"/>
            <a:ext cx="91440" cy="64008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583680" y="3438144"/>
            <a:ext cx="18288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0D9488"/>
                </a:solidFill>
                <a:latin typeface="Calibri"/>
              </a:rPr>
              <a:t>Slicer (dropdown)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0" y="3730752"/>
            <a:ext cx="493776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as_of_date — 24 month-ends Apr 2023 → Mar 2025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0" y="4315968"/>
            <a:ext cx="91440" cy="64008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583680" y="4334256"/>
            <a:ext cx="18288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0D9488"/>
                </a:solidFill>
                <a:latin typeface="Calibri"/>
              </a:rPr>
              <a:t>Slicer (list)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83680" y="4626864"/>
            <a:ext cx="493776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Region filter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0" y="5212080"/>
            <a:ext cx="91440" cy="64008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583680" y="5230368"/>
            <a:ext cx="18288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0D9488"/>
                </a:solidFill>
                <a:latin typeface="Calibri"/>
              </a:rPr>
              <a:t>Interaction fix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0" y="5522976"/>
            <a:ext cx="493776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FY slicer does not filter FY comparison chart (self-filter fix)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4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82880"/>
            <a:ext cx="109728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Tech Stack — Project vs BIS Production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E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11480" y="1115568"/>
            <a:ext cx="2331720" cy="384048"/>
          </a:xfrm>
          <a:prstGeom prst="rect">
            <a:avLst/>
          </a:prstGeom>
          <a:solidFill>
            <a:srgbClr val="14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2834640" y="1115568"/>
            <a:ext cx="4206240" cy="38404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132320" y="1115568"/>
            <a:ext cx="4663440" cy="384048"/>
          </a:xfrm>
          <a:prstGeom prst="rect">
            <a:avLst/>
          </a:prstGeom>
          <a:solidFill>
            <a:srgbClr val="1C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2920" y="1170432"/>
            <a:ext cx="219456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Layer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1170432"/>
            <a:ext cx="402336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This Project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0" y="1170432"/>
            <a:ext cx="448056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BIS Production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572768"/>
            <a:ext cx="11384280" cy="64008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11480" y="1572768"/>
            <a:ext cx="54864" cy="640080"/>
          </a:xfrm>
          <a:prstGeom prst="rect">
            <a:avLst/>
          </a:prstGeom>
          <a:solidFill>
            <a:srgbClr val="14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48640" y="1609344"/>
            <a:ext cx="219456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1C3354"/>
                </a:solidFill>
                <a:latin typeface="Calibri"/>
              </a:rPr>
              <a:t>Source system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34640" y="1609344"/>
            <a:ext cx="41148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Python-generated CSV
(Findur simulation)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1609344"/>
            <a:ext cx="45720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Openlink Findur
(live extract)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2231136"/>
            <a:ext cx="1138428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11480" y="2231136"/>
            <a:ext cx="54864" cy="640080"/>
          </a:xfrm>
          <a:prstGeom prst="rect">
            <a:avLst/>
          </a:prstGeom>
          <a:solidFill>
            <a:srgbClr val="14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48640" y="2267712"/>
            <a:ext cx="219456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1C3354"/>
                </a:solidFill>
                <a:latin typeface="Calibri"/>
              </a:rPr>
              <a:t>Raw ingestion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40" y="2267712"/>
            <a:ext cx="41148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PySpark notebook
(CSV → Delta / OneLake)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0" y="2267712"/>
            <a:ext cx="45720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Fabric Data Factory
(scheduled pipeline)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2889504"/>
            <a:ext cx="11384280" cy="64008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11480" y="2889504"/>
            <a:ext cx="54864" cy="640080"/>
          </a:xfrm>
          <a:prstGeom prst="rect">
            <a:avLst/>
          </a:prstGeom>
          <a:solidFill>
            <a:srgbClr val="14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48640" y="2926080"/>
            <a:ext cx="219456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1C3354"/>
                </a:solidFill>
                <a:latin typeface="Calibri"/>
              </a:rPr>
              <a:t>Transformation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34640" y="2926080"/>
            <a:ext cx="41148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dbt Core (CLI)
9 SQL models,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20" y="2926080"/>
            <a:ext cx="45720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dbt Core or dbt Cloud
Fabric SQL Endpoint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3547872"/>
            <a:ext cx="1138428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411480" y="3547872"/>
            <a:ext cx="54864" cy="640080"/>
          </a:xfrm>
          <a:prstGeom prst="rect">
            <a:avLst/>
          </a:prstGeom>
          <a:solidFill>
            <a:srgbClr val="14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48640" y="3584448"/>
            <a:ext cx="219456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1C3354"/>
                </a:solidFill>
                <a:latin typeface="Calibri"/>
              </a:rPr>
              <a:t>Semantic model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834640" y="3584448"/>
            <a:ext cx="41148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Power BI Import mode
SQL Server connector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32320" y="3584448"/>
            <a:ext cx="45720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Power BI Direct Lake
(Delta tables)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" y="4206240"/>
            <a:ext cx="11384280" cy="64008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411480" y="4206240"/>
            <a:ext cx="54864" cy="640080"/>
          </a:xfrm>
          <a:prstGeom prst="rect">
            <a:avLst/>
          </a:prstGeom>
          <a:solidFill>
            <a:srgbClr val="14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48640" y="4242816"/>
            <a:ext cx="219456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1C3354"/>
                </a:solidFill>
                <a:latin typeface="Calibri"/>
              </a:rPr>
              <a:t>Reporting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834640" y="4242816"/>
            <a:ext cx="41148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Power BI Desktop
(local publish)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32320" y="4242816"/>
            <a:ext cx="45720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Power BI Service
RLS · certified dataset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11480" y="4864607"/>
            <a:ext cx="1138428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411480" y="4864607"/>
            <a:ext cx="54864" cy="640080"/>
          </a:xfrm>
          <a:prstGeom prst="rect">
            <a:avLst/>
          </a:prstGeom>
          <a:solidFill>
            <a:srgbClr val="14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48640" y="4901183"/>
            <a:ext cx="219456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1C3354"/>
                </a:solidFill>
                <a:latin typeface="Calibri"/>
              </a:rPr>
              <a:t>Auth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834640" y="4901183"/>
            <a:ext cx="41148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Azure CLI interactive
(az login)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132320" y="4901183"/>
            <a:ext cx="45720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Service Principal
Managed Identity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1480" y="5522976"/>
            <a:ext cx="11384280" cy="64008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411480" y="5522976"/>
            <a:ext cx="54864" cy="640080"/>
          </a:xfrm>
          <a:prstGeom prst="rect">
            <a:avLst/>
          </a:prstGeom>
          <a:solidFill>
            <a:srgbClr val="14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548640" y="5559552"/>
            <a:ext cx="219456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1C3354"/>
                </a:solidFill>
                <a:latin typeface="Calibri"/>
              </a:rPr>
              <a:t>Orchestration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34640" y="5559552"/>
            <a:ext cx="41148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Manual CLI (dbt run)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132320" y="5559552"/>
            <a:ext cx="45720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Fabric Data Factory
Azure DevOps CI/CD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11480" y="6199632"/>
            <a:ext cx="11384280" cy="457200"/>
          </a:xfrm>
          <a:prstGeom prst="rect">
            <a:avLst/>
          </a:prstGeom>
          <a:solidFill>
            <a:srgbClr val="E8F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411480" y="6199632"/>
            <a:ext cx="64008" cy="457200"/>
          </a:xfrm>
          <a:prstGeom prst="rect">
            <a:avLst/>
          </a:prstGeom>
          <a:solidFill>
            <a:srgbClr val="2D9D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566928" y="6291072"/>
            <a:ext cx="110642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2D9D78"/>
                </a:solidFill>
                <a:latin typeface="Calibri"/>
              </a:rPr>
              <a:t>Architecture is identical — differences are automation, live data sources, and auth method only.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Add-in_Banner">
            <a:extLst>
              <a:ext uri="{FF2B5EF4-FFF2-40B4-BE49-F238E27FC236}">
                <a16:creationId xmlns:a16="http://schemas.microsoft.com/office/drawing/2014/main" id="{3469E413-BCF5-4E2F-BE4B-EB617C589FA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-1" y="352197"/>
            <a:ext cx="12188825" cy="640348"/>
          </a:xfrm>
          <a:prstGeom prst="rect">
            <a:avLst/>
          </a:prstGeom>
          <a:solidFill>
            <a:srgbClr val="494748">
              <a:alpha val="470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1331653" tIns="179953" rIns="215944" bIns="179953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GB" sz="1799" dirty="0">
                <a:solidFill>
                  <a:srgbClr val="000000"/>
                </a:solidFill>
                <a:latin typeface="Segoe UI Light" panose="020B0502040204020203" pitchFamily="34" charset="0"/>
                <a:ea typeface="Calibri" panose="020F0502020204030204" pitchFamily="34" charset="0"/>
                <a:cs typeface="Segoe UI Light" panose="020B0502040204020203" pitchFamily="34" charset="0"/>
              </a:rPr>
              <a:t>Microsoft Power BI</a:t>
            </a:r>
            <a:endParaRPr lang="en-IE" sz="1200" dirty="0">
              <a:latin typeface="Segoe UI Light" panose="020B0502040204020203" pitchFamily="34" charset="0"/>
              <a:ea typeface="Calibri" panose="020F0502020204030204" pitchFamily="34" charset="0"/>
              <a:cs typeface="Segoe UI Light" panose="020B0502040204020203" pitchFamily="34" charset="0"/>
            </a:endParaRPr>
          </a:p>
        </p:txBody>
      </p:sp>
      <p:pic>
        <p:nvPicPr>
          <p:cNvPr id="7" name="Add-in_Icon" descr="Icon for Microsoft Power BI.">
            <a:extLst>
              <a:ext uri="{FF2B5EF4-FFF2-40B4-BE49-F238E27FC236}">
                <a16:creationId xmlns:a16="http://schemas.microsoft.com/office/drawing/2014/main" id="{87D43E1C-7B4D-44A2-8E6D-6786349BFB58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 bwMode="auto">
          <a:xfrm>
            <a:off x="914162" y="531120"/>
            <a:ext cx="291389" cy="291389"/>
          </a:xfrm>
          <a:prstGeom prst="rect">
            <a:avLst/>
          </a:prstGeom>
          <a:noFill/>
        </p:spPr>
      </p:pic>
      <mc:AlternateContent xmlns:mc="http://schemas.openxmlformats.org/markup-compatibility/2006">
        <mc:Choice xmlns:we="http://schemas.microsoft.com/office/webextensions/webextension/2010/11" xmlns:pca="http://schemas.microsoft.com/office/powerpoint/2013/contentapp" Requires="we pca">
          <p:graphicFrame>
            <p:nvGraphicFramePr>
              <p:cNvPr id="2" name="Add-in" descr="Add-in content for Microsoft Power BI."/>
              <p:cNvGraphicFramePr>
                <a:graphicFrameLocks noGrp="1"/>
              </p:cNvGraphicFramePr>
              <p:nvPr/>
            </p:nvGraphicFramePr>
            <p:xfrm>
              <a:off x="720824" y="1171468"/>
              <a:ext cx="10747177" cy="5334335"/>
            </p:xfrm>
            <a:graphic>
              <a:graphicData uri="http://schemas.microsoft.com/office/webextensions/webextension/2010/11">
                <we:webextensionref xmlns:we="http://schemas.microsoft.com/office/webextensions/webextension/2010/11" xmlns:r="http://schemas.openxmlformats.org/officeDocument/2006/relationships" r:id="rId3"/>
              </a:graphicData>
            </a:graphic>
          </p:graphicFrame>
        </mc:Choice>
        <mc:Fallback>
          <p:pic>
            <p:nvPicPr>
              <p:cNvPr id="2" name="Add-in" descr="Add-in content for Microsoft Power BI."/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20824" y="1171468"/>
                <a:ext cx="10747177" cy="5334335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5543278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Add-in_Banner">
            <a:extLst>
              <a:ext uri="{FF2B5EF4-FFF2-40B4-BE49-F238E27FC236}">
                <a16:creationId xmlns:a16="http://schemas.microsoft.com/office/drawing/2014/main" id="{3469E413-BCF5-4E2F-BE4B-EB617C589FA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-1" y="352197"/>
            <a:ext cx="12188825" cy="640348"/>
          </a:xfrm>
          <a:prstGeom prst="rect">
            <a:avLst/>
          </a:prstGeom>
          <a:solidFill>
            <a:srgbClr val="494748">
              <a:alpha val="470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1331653" tIns="179953" rIns="215944" bIns="179953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GB" sz="1799" dirty="0">
                <a:solidFill>
                  <a:srgbClr val="000000"/>
                </a:solidFill>
                <a:latin typeface="Segoe UI Light" panose="020B0502040204020203" pitchFamily="34" charset="0"/>
                <a:ea typeface="Calibri" panose="020F0502020204030204" pitchFamily="34" charset="0"/>
                <a:cs typeface="Segoe UI Light" panose="020B0502040204020203" pitchFamily="34" charset="0"/>
              </a:rPr>
              <a:t>Microsoft Power BI</a:t>
            </a:r>
            <a:endParaRPr lang="en-IE" sz="1200" dirty="0">
              <a:latin typeface="Segoe UI Light" panose="020B0502040204020203" pitchFamily="34" charset="0"/>
              <a:ea typeface="Calibri" panose="020F0502020204030204" pitchFamily="34" charset="0"/>
              <a:cs typeface="Segoe UI Light" panose="020B0502040204020203" pitchFamily="34" charset="0"/>
            </a:endParaRPr>
          </a:p>
        </p:txBody>
      </p:sp>
      <p:pic>
        <p:nvPicPr>
          <p:cNvPr id="7" name="Add-in_Icon" descr="Icon for Microsoft Power BI.">
            <a:extLst>
              <a:ext uri="{FF2B5EF4-FFF2-40B4-BE49-F238E27FC236}">
                <a16:creationId xmlns:a16="http://schemas.microsoft.com/office/drawing/2014/main" id="{87D43E1C-7B4D-44A2-8E6D-6786349BFB58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 bwMode="auto">
          <a:xfrm>
            <a:off x="914162" y="531120"/>
            <a:ext cx="291389" cy="291389"/>
          </a:xfrm>
          <a:prstGeom prst="rect">
            <a:avLst/>
          </a:prstGeom>
          <a:noFill/>
        </p:spPr>
      </p:pic>
      <mc:AlternateContent xmlns:mc="http://schemas.openxmlformats.org/markup-compatibility/2006">
        <mc:Choice xmlns:we="http://schemas.microsoft.com/office/webextensions/webextension/2010/11" xmlns:pca="http://schemas.microsoft.com/office/powerpoint/2013/contentapp" Requires="we pca">
          <p:graphicFrame>
            <p:nvGraphicFramePr>
              <p:cNvPr id="2" name="Add-in" descr="Add-in content for Microsoft Power BI."/>
              <p:cNvGraphicFramePr>
                <a:graphicFrameLocks noGrp="1"/>
              </p:cNvGraphicFramePr>
              <p:nvPr/>
            </p:nvGraphicFramePr>
            <p:xfrm>
              <a:off x="720824" y="1171468"/>
              <a:ext cx="10747177" cy="5334335"/>
            </p:xfrm>
            <a:graphic>
              <a:graphicData uri="http://schemas.microsoft.com/office/webextensions/webextension/2010/11">
                <we:webextensionref xmlns:we="http://schemas.microsoft.com/office/webextensions/webextension/2010/11" xmlns:r="http://schemas.openxmlformats.org/officeDocument/2006/relationships" r:id="rId3"/>
              </a:graphicData>
            </a:graphic>
          </p:graphicFrame>
        </mc:Choice>
        <mc:Fallback>
          <p:pic>
            <p:nvPicPr>
              <p:cNvPr id="2" name="Add-in" descr="Add-in content for Microsoft Power BI."/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20824" y="1171468"/>
                <a:ext cx="10747177" cy="533433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we="http://schemas.microsoft.com/office/webextensions/webextension/2010/11" xmlns:pca="http://schemas.microsoft.com/office/powerpoint/2013/contentapp" Requires="we pca">
          <p:graphicFrame>
            <p:nvGraphicFramePr>
              <p:cNvPr id="3" name="Add-in" descr="Add-in content for Microsoft Power BI.">
                <a:extLst>
                  <a:ext uri="{FF2B5EF4-FFF2-40B4-BE49-F238E27FC236}">
                    <a16:creationId xmlns:a16="http://schemas.microsoft.com/office/drawing/2014/main" id="{ADA6C17F-11F7-577A-15FC-4BBC697D3F29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721012" y="1170879"/>
              <a:ext cx="10749976" cy="5335725"/>
            </p:xfrm>
            <a:graphic>
              <a:graphicData uri="http://schemas.microsoft.com/office/webextensions/webextension/2010/11">
                <we:webextensionref xmlns:we="http://schemas.microsoft.com/office/webextensions/webextension/2010/11" xmlns:r="http://schemas.openxmlformats.org/officeDocument/2006/relationships" r:id="rId5"/>
              </a:graphicData>
            </a:graphic>
          </p:graphicFrame>
        </mc:Choice>
        <mc:Fallback>
          <p:pic>
            <p:nvPicPr>
              <p:cNvPr id="3" name="Add-in" descr="Add-in content for Microsoft Power BI.">
                <a:extLst>
                  <a:ext uri="{FF2B5EF4-FFF2-40B4-BE49-F238E27FC236}">
                    <a16:creationId xmlns:a16="http://schemas.microsoft.com/office/drawing/2014/main" id="{ADA6C17F-11F7-577A-15FC-4BBC697D3F29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21012" y="1170879"/>
                <a:ext cx="10749976" cy="5335725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2118595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6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8229600" y="-731520"/>
            <a:ext cx="4572000" cy="4572000"/>
          </a:xfrm>
          <a:prstGeom prst="ellipse">
            <a:avLst/>
          </a:prstGeom>
          <a:solidFill>
            <a:srgbClr val="2D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91440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"/>
              </a:rPr>
              <a:t>Let's connect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965960"/>
            <a:ext cx="86868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A0B4CC"/>
                </a:solidFill>
                <a:latin typeface="Calibri"/>
              </a:rPr>
              <a:t>I built this pipeline specifically to demonstrate readiness for the BIS Banking Department analytics role.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761488"/>
            <a:ext cx="5486400" cy="18288"/>
          </a:xfrm>
          <a:prstGeom prst="rect">
            <a:avLst/>
          </a:prstGeom>
          <a:solidFill>
            <a:srgbClr val="2D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2907792"/>
            <a:ext cx="1371600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 i="0">
                <a:solidFill>
                  <a:srgbClr val="E8A020"/>
                </a:solidFill>
                <a:latin typeface="Calibri"/>
              </a:rPr>
              <a:t>Email: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2907792"/>
            <a:ext cx="8686800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FFFFFF"/>
                </a:solidFill>
                <a:latin typeface="Calibri"/>
              </a:rPr>
              <a:t>g</a:t>
            </a:r>
            <a:r>
              <a:rPr lang="en-US" sz="1200" b="0" i="0" dirty="0">
                <a:solidFill>
                  <a:srgbClr val="FFFFFF"/>
                </a:solidFill>
                <a:latin typeface="Calibri"/>
              </a:rPr>
              <a:t>authier@gny-consulting.com</a:t>
            </a:r>
            <a:endParaRPr sz="1200" b="0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02920" y="3474720"/>
            <a:ext cx="1371600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 i="0">
                <a:solidFill>
                  <a:srgbClr val="E8A020"/>
                </a:solidFill>
                <a:latin typeface="Calibri"/>
              </a:rPr>
              <a:t>Role: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3474720"/>
            <a:ext cx="8686800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Senior Business Data Analyst — BIS Banking Department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041648"/>
            <a:ext cx="1371600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 i="0">
                <a:solidFill>
                  <a:srgbClr val="E8A020"/>
                </a:solidFill>
                <a:latin typeface="Calibri"/>
              </a:rPr>
              <a:t>Stack: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4041648"/>
            <a:ext cx="8686800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MS Fabric  ·  dbt Core  ·  Power BI  ·  T-SQL  ·  Python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608576"/>
            <a:ext cx="1371600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 i="0">
                <a:solidFill>
                  <a:srgbClr val="E8A020"/>
                </a:solidFill>
                <a:latin typeface="Calibri"/>
              </a:rPr>
              <a:t>Project: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20240" y="4608576"/>
            <a:ext cx="8686800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BIS_Project_2026 — full pipeline available on request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5349240"/>
            <a:ext cx="5486400" cy="18288"/>
          </a:xfrm>
          <a:prstGeom prst="rect">
            <a:avLst/>
          </a:prstGeom>
          <a:solidFill>
            <a:srgbClr val="2D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02920" y="5532120"/>
            <a:ext cx="73152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200" b="1" i="0">
                <a:solidFill>
                  <a:srgbClr val="E8A020"/>
                </a:solidFill>
                <a:latin typeface="Calibri"/>
              </a:rPr>
              <a:t>Thank you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053328"/>
            <a:ext cx="914400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 i="0">
                <a:solidFill>
                  <a:srgbClr val="A0B4CC"/>
                </a:solidFill>
                <a:latin typeface="Calibri"/>
              </a:rPr>
              <a:t>I look forward to contributing to the BIS Banking Department analytics team.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webextensions/webextension1.xml><?xml version="1.0" encoding="utf-8"?>
<we:webextension xmlns:we="http://schemas.microsoft.com/office/webextensions/webextension/2010/11" id="{cb19b00e-e1cc-4d8b-a990-6240f72314f6}">
  <we:reference id="WA200003233" version="2.0.0.3" store="en-US" storeType="OMEX"/>
  <we:alternateReferences/>
  <we:properties>
    <we:property name="Microsoft.Office.CampaignId" value="&quot;none&quot;"/>
    <we:property name="reportUrl" value="&quot;/groups/af757372-574a-4725-b0ef-991838213ca2/reports/1d5493b0-0102-488b-a943-c8943ff1f6fd/0e02becd29a8d1780620?bookmarkGuid=c646a4f7-db74-44df-af28-6c7e6fabfc21&amp;bookmarkUsage=1&amp;ctid=04f991f3-0023-4b95-ab0d-bebbdbc8df14&amp;fromEntryPoint=export&quot;"/>
    <we:property name="reportState" value="&quot;CONNECTED&quot;"/>
    <we:property name="artifactViewState" value="&quot;live&quot;"/>
    <we:property name="reportEmbeddedTime" value="&quot;2026-04-26T21:50:41.024Z&quot;"/>
    <we:property name="creatorSessionId" value="&quot;ba502e7e-07b5-4739-ac41-ac2a56e2226d&quot;"/>
    <we:property name="creatorUserId" value="&quot;10032005BA5268A4&quot;"/>
    <we:property name="creatorTenantId" value="&quot;04f991f3-0023-4b95-ab0d-bebbdbc8df14&quot;"/>
    <we:property name="pageDisplayName" value="&quot;Portfolio Overview&quot;"/>
    <we:property name="pageName" value="&quot;0e02becd29a8d1780620&quot;"/>
    <we:property name="reportName" value="&quot;bis_analytics_report&quot;"/>
    <we:property name="isVisualContainerHeaderHidden" value="false"/>
    <we:property name="isFiltersActionButtonVisible" value="true"/>
    <we:property name="initialStateBookmark" value="&quot;H4sIAAAAAAAAA+1YbU/bMBD+K5O/7Es3OelLUr6VDqSJ8SKYmKYJVWf7UgxpHDkOo0P8952dVKylAiQYm7b2Q2Sfz/fy3HOW3RumdFXmMD+AGbIttm3M5Qzs5ZuIdVjRyg4P9/ZHx3uTg9H+DolN6bQpKrZ1wxzYKbpTXdWQewsk/HbWYZDnRzD1swzyCjusRFuZAnL9AxtlWnK2xtsOw+syNxa8yRMHDr3ZK1KnOfmO3nfJI0inr/AEpWukHHksUKp4CKmKkpQPYk5qVaMQIlur4k0H92NTONAFufGyDJMs7g55ItK+SAbDbsJ7Qa5z16qI+c51aSk7ynleelRG6goKiYqFFCxWTcQ3bDSdWpyCa6c7S4tjk9ezNfITU1uJx5iFpcJpNycfmXQTWVuLhZxPFJam0q5it4TakTWEaVAqzEwTtBOYmbpwk0rZoLFbFy1c3E/PzfexRcJXecEZSSpdTPO2HHfIfG6yk2BVu0QFFxeErMeBthmr0G7PAxQftF3UJO6sZPQ3wkB5kyiSvJ8NupmQPeCDpJ/KHn+03GOCbmqslgERfEY2Ss8mpTWqlm41h1Y8CY13v2qd/4V8eV1RJVBtgx2fg3X/FgcX5xltvPjlxGoZ1mT1uyhFDUDrvWGiBv1exofRUHD6pjx95Q5YYLka75J8Q/8N/V+OTw33MY6E4lJgzLlMVQoiFq/NfQ8P2hJ8iCvxUsH8/g37N+x/aUY1/I8yMRCQpRE1QdSnn+L4yvxX/pq/EmWmKzI+mSPYNeR/lDXQ9sRJriXaNTdXNkN6qvjBFOne701QemUTgMbqDoLl0eniKUL82rVmFra1jyXfgfcT67AmJu6L/eWcqNwWtVB6QcaPK3hVT697MwneH4SQnJ9CXocnGdn+pF2T9U0jJv23u19jHvfexf23Xv+suR+3nw7LAESkki7HSCRJAkrEA7/9wTo4vHbCXC/3bKBdNASABJXkKDnvRhE+/sb607TbnLmbM/cZdAqN5DXWHUOmdlUJEo+gwDVnEbEMCuXrF8bhLFrTw/5PFBZ8UEG1yPGJ+m1wPwHlNK0B/xEAAA==&quot;"/>
    <we:property name="bookmark" value="&quot;H4sIAAAAAAAAA+1Y32/TMBD+V5BfeCnITtv82NtWmISE0MTQEEJTdbYvnbc0jhxnrEz73zk7KWNdxZCAgaB9iOzz+Xz33Xcnu9dMm7apYPUGlsj22IG1F0twF08EG7G6l6lsXE6KtCxEjlnKp0JMElq1jTe2btneNfPgFuhPTNtBFQyR8OPpiEFVHcEizEqoWhyxBl1ra6jMZ+yVacm7Dm9GDK+ayjoIJo89eAxmL0md5uSCeD6mE0F5c4nHqHwv5cgTiUonBeRaZDlPE05qba8QPduqEkzH42e29mBqOibISszKZFzwTOZTmaXFOOOTKDeVH1Tk6uVV4yg6innVBHD29SXUCjWLIThse4+v2f5i4XABfpi+vLM4s1W33CI/tp1T+BbLuFR741d0Rqn8XHXOYa1Wc42NbY1v2Q2hduQsYRqVars0BO0clrar/bzVLmocdvUAFw/TM/tp5pDw1UFwSpLW1ItqSMctMu/66BQ4PSxRwuU5IRtwoG3WaXQHqwjFC+PWOUlGGxH9jTBQ3CQSik/LdFxKNQGeZtNcTfiD6Z4RdAvrjIqI4E9Eo81y3jirO+U3YxjE81h/97M2+l/IV3UtZQL1AbjZGTj/b3Fw3c9o4/k3HWtgWB/V76IUFQCtT4pMp9NJyQtRSE7fnOePXAFrLDf9vSPf0X9H/1/Hp577mAipuZKYcK5ynYNM5GNzP8CDroHg4oa/lLCwf8f+Hft/NaN6/otSphLKXFARiCn9NMdH5r8O1/wNL0vTkvH5CsFtIf+DrIGhJo4ro9BtubmyJdJTJQwWSPf+YILCa3oHDLa3ENwdnayfIsSvQ2eXcdvwZgoVeD+wEet94iHZ78+IykNSa23WZHy1gVf743nvJ/H070JIh59A1cUnGdl+bXwf9XUvJv2nhx8SnkyeJdOnQf+0vx8PnxErAaTQ2ZijkFmWgZZJGrZ/Nw8er7y0V3drNtJOFACQoVYcFedjIfDhN9afpt2u5+567k/QKRZS0NjWhmzn2wYUHkGNW3oRsQxqHfIXx7EXbanh+P8Ku/latl8AURVnwtcRAAA=&quot;"/>
    <we:property name="datasetId" value="&quot;1bc9f159-2234-42ac-8da2-ce5c6c94d7e2&quot;"/>
    <we:property name="embedUrl" value="&quot;/reportEmbed?reportId=1d5493b0-0102-488b-a943-c8943ff1f6fd&amp;groupId=af757372-574a-4725-b0ef-991838213ca2&amp;w=2&amp;config=eyJjbHVzdGVyVXJsIjoiaHR0cHM6Ly9XQUJJLUNBTkFEQS1DRU5UUkFMLUItUFJJTUFSWS1yZWRpcmVjdC5hbmFseXNpcy53aW5kb3dzLm5ldCIsImVtYmVkRmVhdHVyZXMiOnsidXNhZ2VNZXRyaWNzVk5leHQiOnRydWV9fQ%3D%3D&amp;disableSensitivityBanner=true&amp;storytellingChangeViewModeShortcutKeys=true&quot;"/>
    <we:property name="backgroundColor" value="&quot;#E6E6E6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cb19b00e-e1cc-4d8b-a990-6240f72314f6}">
  <we:reference id="WA200003233" version="2.0.0.3" store="en-US" storeType="OMEX"/>
  <we:alternateReferences/>
  <we:properties>
    <we:property name="Microsoft.Office.CampaignId" value="&quot;none&quot;"/>
    <we:property name="reportUrl" value="&quot;/groups/af757372-574a-4725-b0ef-991838213ca2/reports/1d5493b0-0102-488b-a943-c8943ff1f6fd/0e02becd29a8d1780620?bookmarkGuid=c646a4f7-db74-44df-af28-6c7e6fabfc21&amp;bookmarkUsage=1&amp;ctid=04f991f3-0023-4b95-ab0d-bebbdbc8df14&amp;fromEntryPoint=export&quot;"/>
    <we:property name="reportState" value="&quot;CONNECTED&quot;"/>
    <we:property name="artifactViewState" value="&quot;live&quot;"/>
    <we:property name="reportEmbeddedTime" value="&quot;2026-04-26T21:50:41.024Z&quot;"/>
    <we:property name="creatorSessionId" value="&quot;ba502e7e-07b5-4739-ac41-ac2a56e2226d&quot;"/>
    <we:property name="creatorUserId" value="&quot;10032005BA5268A4&quot;"/>
    <we:property name="creatorTenantId" value="&quot;04f991f3-0023-4b95-ab0d-bebbdbc8df14&quot;"/>
    <we:property name="pageDisplayName" value="&quot;Portfolio Overview&quot;"/>
    <we:property name="pageName" value="&quot;0e02becd29a8d1780620&quot;"/>
    <we:property name="reportName" value="&quot;bis_analytics_report&quot;"/>
    <we:property name="isVisualContainerHeaderHidden" value="false"/>
    <we:property name="isFiltersActionButtonVisible" value="true"/>
    <we:property name="initialStateBookmark" value="&quot;H4sIAAAAAAAAA+1YbU/bMBD+K5O/7Es3OelLUr6VDqSJ8SKYmKYJVWf7UgxpHDkOo0P8952dVKylAiQYm7b2Q2Sfz/fy3HOW3RumdFXmMD+AGbIttm3M5Qzs5ZuIdVjRyg4P9/ZHx3uTg9H+DolN6bQpKrZ1wxzYKbpTXdWQewsk/HbWYZDnRzD1swzyCjusRFuZAnL9AxtlWnK2xtsOw+syNxa8yRMHDr3ZK1KnOfmO3nfJI0inr/AEpWukHHksUKp4CKmKkpQPYk5qVaMQIlur4k0H92NTONAFufGyDJMs7g55ItK+SAbDbsJ7Qa5z16qI+c51aSk7ynleelRG6goKiYqFFCxWTcQ3bDSdWpyCa6c7S4tjk9ezNfITU1uJx5iFpcJpNycfmXQTWVuLhZxPFJam0q5it4TakTWEaVAqzEwTtBOYmbpwk0rZoLFbFy1c3E/PzfexRcJXecEZSSpdTPO2HHfIfG6yk2BVu0QFFxeErMeBthmr0G7PAxQftF3UJO6sZPQ3wkB5kyiSvJ8NupmQPeCDpJ/KHn+03GOCbmqslgERfEY2Ss8mpTWqlm41h1Y8CY13v2qd/4V8eV1RJVBtgx2fg3X/FgcX5xltvPjlxGoZ1mT1uyhFDUDrvWGiBv1exofRUHD6pjx95Q5YYLka75J8Q/8N/V+OTw33MY6E4lJgzLlMVQoiFq/NfQ8P2hJ8iCvxUsH8/g37N+x/aUY1/I8yMRCQpRE1QdSnn+L4yvxX/pq/EmWmKzI+mSPYNeR/lDXQ9sRJriXaNTdXNkN6qvjBFOne701QemUTgMbqDoLl0eniKUL82rVmFra1jyXfgfcT67AmJu6L/eWcqNwWtVB6QcaPK3hVT697MwneH4SQnJ9CXocnGdn+pF2T9U0jJv23u19jHvfexf23Xv+suR+3nw7LAESkki7HSCRJAkrEA7/9wTo4vHbCXC/3bKBdNASABJXkKDnvRhE+/sb607TbnLmbM/cZdAqN5DXWHUOmdlUJEo+gwDVnEbEMCuXrF8bhLFrTw/5PFBZ8UEG1yPGJ+m1wPwHlNK0B/xEAAA==&quot;"/>
    <we:property name="bookmark" value="&quot;H4sIAAAAAAAAA+1Y32/TMBD+V5BfeCnITtv82NtWmISE0MTQEEJTdbYvnbc0jhxnrEz73zk7KWNdxZCAgaB9iOzz+Xz33Xcnu9dMm7apYPUGlsj22IG1F0twF08EG7G6l6lsXE6KtCxEjlnKp0JMElq1jTe2btneNfPgFuhPTNtBFQyR8OPpiEFVHcEizEqoWhyxBl1ra6jMZ+yVacm7Dm9GDK+ayjoIJo89eAxmL0md5uSCeD6mE0F5c4nHqHwv5cgTiUonBeRaZDlPE05qba8QPduqEkzH42e29mBqOibISszKZFzwTOZTmaXFOOOTKDeVH1Tk6uVV4yg6innVBHD29SXUCjWLIThse4+v2f5i4XABfpi+vLM4s1W33CI/tp1T+BbLuFR741d0Rqn8XHXOYa1Wc42NbY1v2Q2hduQsYRqVars0BO0clrar/bzVLmocdvUAFw/TM/tp5pDw1UFwSpLW1ItqSMctMu/66BQ4PSxRwuU5IRtwoG3WaXQHqwjFC+PWOUlGGxH9jTBQ3CQSik/LdFxKNQGeZtNcTfiD6Z4RdAvrjIqI4E9Eo81y3jirO+U3YxjE81h/97M2+l/IV3UtZQL1AbjZGTj/b3Fw3c9o4/k3HWtgWB/V76IUFQCtT4pMp9NJyQtRSE7fnOePXAFrLDf9vSPf0X9H/1/Hp577mAipuZKYcK5ynYNM5GNzP8CDroHg4oa/lLCwf8f+Hft/NaN6/otSphLKXFARiCn9NMdH5r8O1/wNL0vTkvH5CsFtIf+DrIGhJo4ro9BtubmyJdJTJQwWSPf+YILCa3oHDLa3ENwdnayfIsSvQ2eXcdvwZgoVeD+wEet94iHZ78+IykNSa23WZHy1gVf743nvJ/H070JIh59A1cUnGdl+bXwf9XUvJv2nhx8SnkyeJdOnQf+0vx8PnxErAaTQ2ZijkFmWgZZJGrZ/Nw8er7y0V3drNtJOFACQoVYcFedjIfDhN9afpt2u5+567k/QKRZS0NjWhmzn2wYUHkGNW3oRsQxqHfIXx7EXbanh+P8Ku/latl8AURVnwtcRAAA=&quot;"/>
    <we:property name="datasetId" value="&quot;1bc9f159-2234-42ac-8da2-ce5c6c94d7e2&quot;"/>
    <we:property name="embedUrl" value="&quot;/reportEmbed?reportId=1d5493b0-0102-488b-a943-c8943ff1f6fd&amp;groupId=af757372-574a-4725-b0ef-991838213ca2&amp;w=2&amp;config=eyJjbHVzdGVyVXJsIjoiaHR0cHM6Ly9XQUJJLUNBTkFEQS1DRU5UUkFMLUItUFJJTUFSWS1yZWRpcmVjdC5hbmFseXNpcy53aW5kb3dzLm5ldCIsImVtYmVkRmVhdHVyZXMiOnsidXNhZ2VNZXRyaWNzVk5leHQiOnRydWV9fQ%3D%3D&amp;disableSensitivityBanner=true&amp;storytellingChangeViewModeShortcutKeys=true&quot;"/>
    <we:property name="backgroundColor" value="&quot;#E6E6E6&quot;"/>
  </we:properties>
  <we:bindings/>
  <we:snapshot xmlns:r="http://schemas.openxmlformats.org/officeDocument/2006/relationships"/>
</we:webextension>
</file>

<file path=ppt/webextensions/webextension3.xml><?xml version="1.0" encoding="utf-8"?>
<we:webextension xmlns:we="http://schemas.microsoft.com/office/webextensions/webextension/2010/11" id="{2DC6E3CD-D1E8-42D2-B816-3BB9EDC81C62}">
  <we:reference id="WA200003233" version="2.0.0.3" store="en-US" storeType="OMEX"/>
  <we:alternateReferences/>
  <we:properties>
    <we:property name="Microsoft.Office.CampaignId" value="&quot;none&quot;"/>
    <we:property name="reportUrl" value="&quot;/groups/af757372-574a-4725-b0ef-991838213ca2/reports/1d5493b0-0102-488b-a943-c8943ff1f6fd/5f57c4a1a6c45018354c?bookmarkGuid=6d6235c1-fcd7-4199-ad5b-179596412b56&amp;bookmarkUsage=1&amp;ctid=04f991f3-0023-4b95-ab0d-bebbdbc8df14&amp;fromEntryPoint=export&quot;"/>
    <we:property name="reportState" value="&quot;CONNECTED&quot;"/>
    <we:property name="artifactViewState" value="&quot;live&quot;"/>
    <we:property name="reportEmbeddedTime" value="&quot;2026-04-26T21:49:27.262Z&quot;"/>
    <we:property name="creatorSessionId" value="&quot;e438f960-d861-43a2-98b5-810e1b351479&quot;"/>
    <we:property name="creatorUserId" value="&quot;10032005BA5268A4&quot;"/>
    <we:property name="creatorTenantId" value="&quot;04f991f3-0023-4b95-ab0d-bebbdbc8df14&quot;"/>
    <we:property name="pageDisplayName" value="&quot;Maturity &amp; Counterparty&quot;"/>
    <we:property name="pageName" value="&quot;5f57c4a1a6c45018354c&quot;"/>
    <we:property name="reportName" value="&quot;bis_analytics_report&quot;"/>
    <we:property name="isVisualContainerHeaderHidden" value="false"/>
    <we:property name="isFiltersActionButtonVisible" value="true"/>
    <we:property name="initialStateBookmark" value="&quot;H4sIAAAAAAAAA+VYbU/jRhD+K5W/8CVUfk1IvkEuSNX1gF4QVVVF1nh3HPawve56zZGi/PfOrp0QciHk6CV3ahFC69nZ2ZlnnhmPeXS4qMoMZheQozNwzqS8y0Hd/eQ5HadoZZeX7z+cfnwfX5x+GJFYllrIonIGj44GNUV9I6oaMmOBhH9OOg5k2RVMzVMKWYUdp0RVyQIy8Tc2yrSlVY3zjoMPZSYVGJNjDRqN2XtSp2e62/s5oBuBaXGPY2S6kUZp1GMheNBlYeR6J0EUMlKrGgXr2UYVY9peP5SFBlHQNUbW74ahD5GbnHSjbuC6XZ4kRp6KTLcqyWz0UCqKjmKelQaVIfk6lUowyBwbhcKqcfrRGcqszu1q9Ew+lrVi+BFTu1VooWdkKWU6ZrVSWLBZzLGUldCVMydsrpQk5KwSR8jiigCqm61b+XmokHzgzsCdd5ZunfJ7KBhJ1306nU4VTkG3j6N9O1zIXFDGY8hlXei44spqnNdFm0X3yzAmJKlEMc1aljwl7LqJjmV1RSlBfgZqeAtKGzomnyjvJkt0WiqO6mxmE/VOqAVj/M5aYD8iGvPJgul08NMKl1uqNVHtnVuTudmOTlg3DPpRFIaB7/qe2/XcV2viWpYXlJFGx6jcLAqZEnCuZG6V21ZT1clfNVJU67kZLzZo/dtisc2SIfsyYi7ymBmQUZVg4us4DXlslbQn0tUTmzF6OkZpGWNG+dgd/+bBuraGNSv1LLaNleQLbwRmpEj3XB6MvksP07dSlZLtDDzXsqWByl9BeNeckKHfb6miW2wLLhZB/bIWQvWN4bcxQJLhy8eXFJ2bn8n83/X5L1DY4tvLDf7bvXd28scqqNkP4hKR3pz//74AtSHs6OG/9dozIv8kAd9H6AUYhH2/F/roHXAGM8TjZvpcCyAVFRmPZwhqA+teTRe0ZBxngqFqlVZz5+RIE7RZTJHGUWOCwisbBwRWTxA8X33V69AG9t1a7nMI6fIbyGr7pUC2fxW6ifqxEZP+0fkfNHCEx350ZPQnDUPaPx3H9YD3MXSjKPHDbt8NAuyZ49vLBh90ItfKxo456QmHbuhy7jNwvTDApPcq7Q7RYugjTMc5jWSKnuMMOBX4OrJaajO47dJY9tGsd3FxuZ3U7A71W2rorTO/t978DhHdPmb4t3nSjPHMD4NeEPDA66ELvhd6/eCAbXUX16GKZfrUfL+SHZXtrHvvqflqT90Y1aH6a74Vv9fbq1HUIscjarLRsRscB9616w7s71rD7Rhl2IBeLrnFFy1xNnfxd3SCy8/F0WJ4/q6V+gykF4t0Cd3eXbAAW0g20FbWuiqB4RUUuAF9Qh0KbupjawbM/9ccewcVjGi/c3bQb537B7kHOugaFAAA&quot;"/>
    <we:property name="bookmark" value="&quot;H4sIAAAAAAAAA+VYbW/jNgz+K4O/9Es6yK95+XbNtcCA4dYtRYdhCAxZolNdbcuT5F6zIv99lOykrS9Nc90ld9iCIpAoiiYfPqSZPnhc6Lqgyw+0BG/inUl5W1J1+4PvDbyqlREgMMqSeMhjfxTBKAlZgqeyNkJW2ps8eIaqBZhroRtaWEMo/HM+8GhRXNKF3eW00DDwalBaVrQQf0OrjEdGNbAaeHBfF1JRa3JmqAFr9g7VcY8u+D+G+ETKjLiDGTDTSuM8HrKI+jRhUUz8URhHDNV0q+A826piTbvHT2VlqKjwMVY2TqIooDHJRkmchIQkPMusPBeF6VSy5fl9rTA6jHlZW3Cm6OtCKsFo4bkoFOjW6QdvKoumdKvzZ/KZbBSD3yB3R5URZomWcmZS1igFFVumHGqphdHeCrG5VBKRc0ocaJFqBKhpj27kp6kC9IF7E7IabNx6x+9oxVDa9+ndYqFgQU23PT+0w5UsBWY8paVsKpNqrpzGRVN1WSSfhzFHiRbVouhY8piwqzY6VjQaUwL8jKrpDVXG0jH7iHm3WcLbUnFQZ0uXqPdCrRkTDHqBfY9orOZrpuPFj0+43FGtjerg3Jqv7HE8YkkUjuM4isKABD5JfPJqTVzJ+gNmpNWxKtfrQsYEXChZOuWu4+gm+6sBjKqfm9n6ANe/rhe7LFmybyLmokyZBRlUTW18A68lj6uS7kb+9MZ2jB6vYVpmUGA+9se/3TjXeliz2ixT119RvvZGQIGK+JxfjkbfjYf5W6mKyfYmPnFsaaEKniC8b07Q0O83WNEdthUX66B+6oWgvzL8LgaaFfDy9Q1FV/YzX/27Pv8ZCjt8e7nBf733zl7+OAW1/E5cQtLb+//fF6CxhD2//2+99qwoGGU0CIAOQwijcTCMAvCPOINZ4nE7ffYCyIVG4+kSqNrCulfTRTsyzgrBQHVKT3PnlYATtF0sAMdRawLDq1sHBOhHCJ6vvuh16AL7Zi33OYT48GtaNO6XAtr+WZg26odWjPonF3/gwBGdBvGJ1Z+3DOm+Bh7xKR9DROI4C6JkTMIQhvb67rKBe5PJXtm4MScfcZpEhPOAUeJHIWTDV2l3jBaDv8VMWuJIpnCfFpRjgfeRNdLYwW2fxnKIZr2Pi5vjrGG3YN5SQ2+d+f1+8ztGdIeY4d/mSTvGsyAKh2HIQ38IhAZ+5I/DI7bVfVynOpX5Y/P9QnZo11kP3lPLpz11a1TH6q/lTvxeb69W0YgSTrDJxqckPA39K0Im7q/XcAdWmW5Br5Tc4QuOONu7+Hu8weWn6mQ9PH/TSn0G0otFuoHu4C44gB0kW2grG6NryuCSVrAFfUSdVtzWx84MuH+9bcBfrf4B5uUFRvITAAA=&quot;"/>
    <we:property name="datasetId" value="&quot;1bc9f159-2234-42ac-8da2-ce5c6c94d7e2&quot;"/>
    <we:property name="embedUrl" value="&quot;/reportEmbed?reportId=1d5493b0-0102-488b-a943-c8943ff1f6fd&amp;groupId=af757372-574a-4725-b0ef-991838213ca2&amp;w=2&amp;config=eyJjbHVzdGVyVXJsIjoiaHR0cHM6Ly9XQUJJLUNBTkFEQS1DRU5UUkFMLUItUFJJTUFSWS1yZWRpcmVjdC5hbmFseXNpcy53aW5kb3dzLm5ldCIsImVtYmVkRmVhdHVyZXMiOnsidXNhZ2VNZXRyaWNzVk5leHQiOnRydWV9fQ%3D%3D&amp;disableSensitivityBanner=true&amp;storytellingChangeViewModeShortcutKeys=true&quot;"/>
    <we:property name="backgroundColor" value="&quot;#E6E6E6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52</TotalTime>
  <Words>1273</Words>
  <Application>Microsoft Office PowerPoint</Application>
  <PresentationFormat>Custom</PresentationFormat>
  <Paragraphs>230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Arial</vt:lpstr>
      <vt:lpstr>Calibri</vt:lpstr>
      <vt:lpstr>Consolas</vt:lpstr>
      <vt:lpstr>Segoe UI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Microsoft Power BI</vt:lpstr>
      <vt:lpstr>Microsoft Power BI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Sosa Ny</cp:lastModifiedBy>
  <cp:revision>6</cp:revision>
  <dcterms:created xsi:type="dcterms:W3CDTF">2013-01-27T09:14:16Z</dcterms:created>
  <dcterms:modified xsi:type="dcterms:W3CDTF">2026-04-26T21:54:15Z</dcterms:modified>
  <cp:category/>
</cp:coreProperties>
</file>