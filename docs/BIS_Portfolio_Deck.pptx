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412480" y="-914400"/>
            <a:ext cx="4114800" cy="4114800"/>
          </a:xfrm>
          <a:prstGeom prst="ellipse">
            <a:avLst/>
          </a:prstGeom>
          <a:solidFill>
            <a:srgbClr val="2D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3840480"/>
            <a:ext cx="2926080" cy="2926080"/>
          </a:xfrm>
          <a:prstGeom prst="ellipse">
            <a:avLst/>
          </a:prstGeom>
          <a:solidFill>
            <a:srgbClr val="223A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463040"/>
            <a:ext cx="2011680" cy="292608"/>
          </a:xfrm>
          <a:prstGeom prst="rect">
            <a:avLst/>
          </a:prstGeom>
          <a:solidFill>
            <a:srgbClr val="E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472184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14263D"/>
                </a:solidFill>
                <a:latin typeface="Calibri"/>
              </a:rPr>
              <a:t>PORTFOLIO 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74519"/>
            <a:ext cx="8229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  <a:latin typeface="Calibri"/>
              </a:rPr>
              <a:t>BIS Analytics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697480"/>
            <a:ext cx="8229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5200" b="1" i="0">
                <a:solidFill>
                  <a:srgbClr val="E8A020"/>
                </a:solidFill>
                <a:latin typeface="Calibri"/>
              </a:rPr>
              <a:t>Pipeline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749039"/>
            <a:ext cx="8229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A0B4CC"/>
                </a:solidFill>
                <a:latin typeface="Calibri"/>
              </a:rPr>
              <a:t>MS Fabric  ·  dbt Core  ·  Power BI  ·  T-SQL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4297680"/>
            <a:ext cx="5943600" cy="18288"/>
          </a:xfrm>
          <a:prstGeom prst="rect">
            <a:avLst/>
          </a:prstGeom>
          <a:solidFill>
            <a:srgbClr val="2D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4407408"/>
            <a:ext cx="45720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Gauthier Ny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828032"/>
            <a:ext cx="64008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A0B4CC"/>
                </a:solidFill>
                <a:latin typeface="Calibri"/>
              </a:rPr>
              <a:t>Candidate — Senior Business Data Analyst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5230368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4748B"/>
                </a:solidFill>
                <a:latin typeface="Calibri"/>
              </a:rPr>
              <a:t>April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4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82880"/>
            <a:ext cx="91440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Project Overview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E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170432"/>
            <a:ext cx="113385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E293B"/>
                </a:solidFill>
                <a:latin typeface="Calibri"/>
              </a:rPr>
              <a:t>Built a production-grade currency deposit analytics pipeline mirroring the BIS Banking Department tech stack — from synthetic Findur data to published Power BI report.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920240"/>
            <a:ext cx="2560320" cy="1508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920240"/>
            <a:ext cx="64008" cy="1508760"/>
          </a:xfrm>
          <a:prstGeom prst="rect">
            <a:avLst/>
          </a:prstGeom>
          <a:solidFill>
            <a:srgbClr val="1C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93392"/>
            <a:ext cx="228600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1C3354"/>
                </a:solidFill>
                <a:latin typeface="Calibri"/>
              </a:rPr>
              <a:t>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633472"/>
            <a:ext cx="228600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dbt models
across 4 layers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6120" y="1920240"/>
            <a:ext cx="2560320" cy="1508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46120" y="1920240"/>
            <a:ext cx="64008" cy="15087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29000" y="1993392"/>
            <a:ext cx="228600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0D9488"/>
                </a:solidFill>
                <a:latin typeface="Calibri"/>
              </a:rPr>
              <a:t>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2633472"/>
            <a:ext cx="228600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month-end
as-of dates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80760" y="1920240"/>
            <a:ext cx="2560320" cy="1508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080760" y="1920240"/>
            <a:ext cx="64008" cy="1508760"/>
          </a:xfrm>
          <a:prstGeom prst="rect">
            <a:avLst/>
          </a:prstGeom>
          <a:solidFill>
            <a:srgbClr val="C483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993392"/>
            <a:ext cx="228600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C48310"/>
                </a:solidFill>
                <a:latin typeface="Calibri"/>
              </a:rPr>
              <a:t>SDR 431bn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2633472"/>
            <a:ext cx="228600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BIS total assets
replicated scope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15400" y="1920240"/>
            <a:ext cx="2560320" cy="1508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915400" y="1920240"/>
            <a:ext cx="64008" cy="1508760"/>
          </a:xfrm>
          <a:prstGeom prst="rect">
            <a:avLst/>
          </a:prstGeom>
          <a:solidFill>
            <a:srgbClr val="2D9D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98280" y="1993392"/>
            <a:ext cx="228600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2D9D78"/>
                </a:solidFill>
                <a:latin typeface="Calibri"/>
              </a:rPr>
              <a:t>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98280" y="2633472"/>
            <a:ext cx="228600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Power BI visuals
2 report pages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3657600"/>
            <a:ext cx="3749039" cy="2834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11480" y="3657600"/>
            <a:ext cx="3749039" cy="347472"/>
          </a:xfrm>
          <a:prstGeom prst="rect">
            <a:avLst/>
          </a:prstGeom>
          <a:solidFill>
            <a:srgbClr val="1C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3694176"/>
            <a:ext cx="34747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WHAT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4114800"/>
            <a:ext cx="3520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• Currency deposit analytics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4626864"/>
            <a:ext cx="3520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• Star schema (1 fact + 4 dims)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5138928"/>
            <a:ext cx="3520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• Maturity ladder mart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5650992"/>
            <a:ext cx="3520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• Fiscal year Apr → Mar (BIS convention)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43400" y="3657600"/>
            <a:ext cx="3749039" cy="2834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343400" y="3657600"/>
            <a:ext cx="3749039" cy="34747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80560" y="3694176"/>
            <a:ext cx="34747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WHY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80560" y="4114800"/>
            <a:ext cx="3520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• Demonstrates BIS-stack readiness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4626864"/>
            <a:ext cx="3520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• Domain: SDR, FIXBIS, MTI, Sight, Notice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80560" y="5138928"/>
            <a:ext cx="3520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• Business logic from Annual Report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80560" y="5650992"/>
            <a:ext cx="3520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• Data validated against p.105-106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75319" y="3657600"/>
            <a:ext cx="3749039" cy="2834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275319" y="3657600"/>
            <a:ext cx="3749039" cy="347472"/>
          </a:xfrm>
          <a:prstGeom prst="rect">
            <a:avLst/>
          </a:prstGeom>
          <a:solidFill>
            <a:srgbClr val="2D9D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12480" y="3694176"/>
            <a:ext cx="34747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HOW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12480" y="4114800"/>
            <a:ext cx="3520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• Python → Fabric OneLake → dbt → Power BI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12480" y="4626864"/>
            <a:ext cx="3520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• 9 SQL models, all materialised as views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12480" y="5138928"/>
            <a:ext cx="3520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• Azure CLI auth → Fabric SQL Endpoint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12480" y="5650992"/>
            <a:ext cx="3520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• dbt run PASS=9 / Power BI refresh OK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4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82880"/>
            <a:ext cx="91440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BIS Domain Knowledge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E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0972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64748B"/>
                </a:solidFill>
                <a:latin typeface="Calibri"/>
              </a:rPr>
              <a:t>All business logic validated against BIS Annual Report 2024/25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536192"/>
            <a:ext cx="5394960" cy="2011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536192"/>
            <a:ext cx="5394960" cy="347472"/>
          </a:xfrm>
          <a:prstGeom prst="rect">
            <a:avLst/>
          </a:prstGeom>
          <a:solidFill>
            <a:srgbClr val="1C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572768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SDR — Unit of Account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0" y="1572768"/>
            <a:ext cx="6400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E8A020"/>
                </a:solidFill>
                <a:latin typeface="Calibri"/>
              </a:rPr>
              <a:t>p.103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993392"/>
            <a:ext cx="51206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Special Drawing Right — IMF basket of 5 currencies: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322576"/>
            <a:ext cx="51206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C48310"/>
                </a:solidFill>
                <a:latin typeface="Calibri"/>
              </a:rPr>
              <a:t>USD · EUR · GBP · JPY · CNY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2651760"/>
            <a:ext cx="51206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BIS reports all figures in SDR — pipeline converts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2980944"/>
            <a:ext cx="51206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every deal to SDR via monthly IMF rate feed.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80760" y="1536192"/>
            <a:ext cx="5696712" cy="2011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080760" y="1536192"/>
            <a:ext cx="5696712" cy="347472"/>
          </a:xfrm>
          <a:prstGeom prst="rect">
            <a:avLst/>
          </a:prstGeom>
          <a:solidFill>
            <a:srgbClr val="1C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6208" y="1572768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BIS Fiscal Year — April to March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09960" y="1572768"/>
            <a:ext cx="548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E8A020"/>
                </a:solidFill>
                <a:latin typeface="Calibri"/>
              </a:rPr>
              <a:t>p.101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6208" y="1993392"/>
            <a:ext cx="128016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D9488"/>
                </a:solidFill>
                <a:latin typeface="Calibri"/>
              </a:rPr>
              <a:t>FY2023-24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71231" y="1993392"/>
            <a:ext cx="41148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1 Apr 2023 → 31 Mar 2024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36208" y="2322576"/>
            <a:ext cx="128016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D9488"/>
                </a:solidFill>
                <a:latin typeface="Calibri"/>
              </a:rPr>
              <a:t>FY2024-25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71231" y="2322576"/>
            <a:ext cx="41148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1 Apr 2024 → 31 Mar 2025  ← current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36208" y="2651760"/>
            <a:ext cx="128016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D9488"/>
                </a:solidFill>
                <a:latin typeface="Calibri"/>
              </a:rPr>
              <a:t>FQ1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71231" y="2651760"/>
            <a:ext cx="41148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April · May · June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36208" y="2980944"/>
            <a:ext cx="128016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D9488"/>
                </a:solidFill>
                <a:latin typeface="Calibri"/>
              </a:rPr>
              <a:t>FQ2–FQ4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71231" y="2980944"/>
            <a:ext cx="41148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Jul–Sep · Oct–Dec · Jan–Mar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3703320"/>
            <a:ext cx="5394960" cy="2834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11480" y="3703320"/>
            <a:ext cx="5394960" cy="34747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373989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Deposit Products (Findur codes)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20640" y="3739896"/>
            <a:ext cx="6400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E8A020"/>
                </a:solidFill>
                <a:latin typeface="Calibri"/>
              </a:rPr>
              <a:t>p.105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4160520"/>
            <a:ext cx="141732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0D9488"/>
                </a:solidFill>
                <a:latin typeface="Consolas"/>
              </a:rPr>
              <a:t>FIXBIS_DEP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29968" y="4160520"/>
            <a:ext cx="3639312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Fixed-rate deposit — fixed term &amp; rate. Most common.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4672583"/>
            <a:ext cx="141732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0D9488"/>
                </a:solidFill>
                <a:latin typeface="Consolas"/>
              </a:rPr>
              <a:t>MTI_DEP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29968" y="4672583"/>
            <a:ext cx="3639312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Medium-term instrument — 1–10yr tenor.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5184648"/>
            <a:ext cx="141732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0D9488"/>
                </a:solidFill>
                <a:latin typeface="Consolas"/>
              </a:rPr>
              <a:t>SIGHT_DEP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29968" y="5184648"/>
            <a:ext cx="3639312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On-demand / overnight. No maturity date.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5696712"/>
            <a:ext cx="141732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0D9488"/>
                </a:solidFill>
                <a:latin typeface="Consolas"/>
              </a:rPr>
              <a:t>NOTICE_DEP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029968" y="5696712"/>
            <a:ext cx="3639312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Redeemable after advance notice period.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80760" y="3703320"/>
            <a:ext cx="5696712" cy="2834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080760" y="3703320"/>
            <a:ext cx="5696712" cy="347472"/>
          </a:xfrm>
          <a:prstGeom prst="rect">
            <a:avLst/>
          </a:prstGeom>
          <a:solidFill>
            <a:srgbClr val="2D9D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36208" y="3739896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Geographic Distribution of Deposits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109960" y="3739896"/>
            <a:ext cx="548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E8A020"/>
                </a:solidFill>
                <a:latin typeface="Calibri"/>
              </a:rPr>
              <a:t>p.106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36208" y="4160520"/>
            <a:ext cx="214884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Asia-Pacific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30768" y="4160520"/>
            <a:ext cx="59436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2D9D78"/>
                </a:solidFill>
                <a:latin typeface="Calibri"/>
              </a:rPr>
              <a:t>61%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098280" y="4224528"/>
            <a:ext cx="3200400" cy="155448"/>
          </a:xfrm>
          <a:prstGeom prst="rect">
            <a:avLst/>
          </a:prstGeom>
          <a:solidFill>
            <a:srgbClr val="2D9D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236208" y="4526280"/>
            <a:ext cx="214884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Americas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30768" y="4526280"/>
            <a:ext cx="59436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0D9488"/>
                </a:solidFill>
                <a:latin typeface="Calibri"/>
              </a:rPr>
              <a:t> 9%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098280" y="4590288"/>
            <a:ext cx="475488" cy="15544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36208" y="4892040"/>
            <a:ext cx="214884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Europe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30768" y="4892040"/>
            <a:ext cx="59436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C3354"/>
                </a:solidFill>
                <a:latin typeface="Calibri"/>
              </a:rPr>
              <a:t> 8%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098280" y="4956048"/>
            <a:ext cx="420624" cy="155448"/>
          </a:xfrm>
          <a:prstGeom prst="rect">
            <a:avLst/>
          </a:prstGeom>
          <a:solidFill>
            <a:srgbClr val="1C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236208" y="5257800"/>
            <a:ext cx="214884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Middle East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430768" y="5257800"/>
            <a:ext cx="59436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C48310"/>
                </a:solidFill>
                <a:latin typeface="Calibri"/>
              </a:rPr>
              <a:t> 7%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098280" y="5321808"/>
            <a:ext cx="365760" cy="155448"/>
          </a:xfrm>
          <a:prstGeom prst="rect">
            <a:avLst/>
          </a:prstGeom>
          <a:solidFill>
            <a:srgbClr val="C483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236208" y="5623560"/>
            <a:ext cx="214884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Africa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430768" y="5623560"/>
            <a:ext cx="59436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64748B"/>
                </a:solidFill>
                <a:latin typeface="Calibri"/>
              </a:rPr>
              <a:t> 6%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098280" y="5687568"/>
            <a:ext cx="320040" cy="155448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236208" y="5989320"/>
            <a:ext cx="214884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International institutions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430768" y="5989320"/>
            <a:ext cx="59436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B6B7E"/>
                </a:solidFill>
                <a:latin typeface="Calibri"/>
              </a:rPr>
              <a:t> 9%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098280" y="6053328"/>
            <a:ext cx="475488" cy="155448"/>
          </a:xfrm>
          <a:prstGeom prst="rect">
            <a:avLst/>
          </a:prstGeom>
          <a:solidFill>
            <a:srgbClr val="5B6B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4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82880"/>
            <a:ext cx="91440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Pipeline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E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280160"/>
            <a:ext cx="2103120" cy="2194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280160"/>
            <a:ext cx="2103120" cy="256032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79" y="1307592"/>
            <a:ext cx="1920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SOURCE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79" y="1627632"/>
            <a:ext cx="1920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64748B"/>
                </a:solidFill>
                <a:latin typeface="Calibri"/>
              </a:rPr>
              <a:t>Openlink
Findur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79" y="2322576"/>
            <a:ext cx="1920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4748B"/>
                </a:solidFill>
                <a:latin typeface="Calibri"/>
              </a:rPr>
              <a:t>Simulated via
Python CSV</a:t>
            </a:r>
          </a:p>
        </p:txBody>
      </p:sp>
      <p:sp>
        <p:nvSpPr>
          <p:cNvPr id="10" name="Rectangle 9"/>
          <p:cNvSpPr/>
          <p:nvPr/>
        </p:nvSpPr>
        <p:spPr>
          <a:xfrm>
            <a:off x="2441448" y="2267712"/>
            <a:ext cx="384048" cy="109728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97480" y="2084831"/>
            <a:ext cx="3474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&gt;&gt;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7480" y="1280160"/>
            <a:ext cx="2103120" cy="2194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97480" y="1280160"/>
            <a:ext cx="2103120" cy="256032"/>
          </a:xfrm>
          <a:prstGeom prst="rect">
            <a:avLst/>
          </a:prstGeom>
          <a:solidFill>
            <a:srgbClr val="1C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88920" y="1307592"/>
            <a:ext cx="1920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INGEST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1627632"/>
            <a:ext cx="1920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C3354"/>
                </a:solidFill>
                <a:latin typeface="Calibri"/>
              </a:rPr>
              <a:t>PySpark
Notebook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88920" y="2322576"/>
            <a:ext cx="1920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4748B"/>
                </a:solidFill>
                <a:latin typeface="Calibri"/>
              </a:rPr>
              <a:t>CSV → Delta
tables (OneLake)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18888" y="2267712"/>
            <a:ext cx="384048" cy="109728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74920" y="2084831"/>
            <a:ext cx="3474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&gt;&gt;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74920" y="1280160"/>
            <a:ext cx="2103120" cy="2194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74920" y="1280160"/>
            <a:ext cx="2103120" cy="25603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66359" y="1307592"/>
            <a:ext cx="1920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TRANSFORM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66359" y="1627632"/>
            <a:ext cx="1920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D9488"/>
                </a:solidFill>
                <a:latin typeface="Calibri"/>
              </a:rPr>
              <a:t>dbt Core
9 models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66359" y="2322576"/>
            <a:ext cx="1920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4748B"/>
                </a:solidFill>
                <a:latin typeface="Calibri"/>
              </a:rPr>
              <a:t>4 layers:
stg→int→mart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96327" y="2267712"/>
            <a:ext cx="384048" cy="109728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52360" y="2084831"/>
            <a:ext cx="3474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&gt;&gt;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452360" y="1280160"/>
            <a:ext cx="2103120" cy="2194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452360" y="1280160"/>
            <a:ext cx="2103120" cy="256032"/>
          </a:xfrm>
          <a:prstGeom prst="rect">
            <a:avLst/>
          </a:prstGeom>
          <a:solidFill>
            <a:srgbClr val="2D9D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43800" y="1307592"/>
            <a:ext cx="1920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43800" y="1627632"/>
            <a:ext cx="1920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2D9D78"/>
                </a:solidFill>
                <a:latin typeface="Calibri"/>
              </a:rPr>
              <a:t>Semantic
Model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43800" y="2322576"/>
            <a:ext cx="1920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4748B"/>
                </a:solidFill>
                <a:latin typeface="Calibri"/>
              </a:rPr>
              <a:t>Import mode
Power BI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73768" y="2267712"/>
            <a:ext cx="384048" cy="109728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29800" y="2084831"/>
            <a:ext cx="3474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&gt;&gt;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829800" y="1280160"/>
            <a:ext cx="2103120" cy="2194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829800" y="1280160"/>
            <a:ext cx="2103120" cy="256032"/>
          </a:xfrm>
          <a:prstGeom prst="rect">
            <a:avLst/>
          </a:prstGeom>
          <a:solidFill>
            <a:srgbClr val="C483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921240" y="1307592"/>
            <a:ext cx="1920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REPORT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21240" y="1627632"/>
            <a:ext cx="1920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C48310"/>
                </a:solidFill>
                <a:latin typeface="Calibri"/>
              </a:rPr>
              <a:t>Power BI
Report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21240" y="2322576"/>
            <a:ext cx="1920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4748B"/>
                </a:solidFill>
                <a:latin typeface="Calibri"/>
              </a:rPr>
              <a:t>2 pages · 10 visuals
4 slicers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79" y="3675887"/>
            <a:ext cx="20116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4748B"/>
                </a:solidFill>
                <a:latin typeface="Consolas"/>
              </a:rPr>
              <a:t>findur_export.csv
src_deals · src_fx_rates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88920" y="3675887"/>
            <a:ext cx="20116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4748B"/>
                </a:solidFill>
                <a:latin typeface="Consolas"/>
              </a:rPr>
              <a:t>bis_raw Lakehouse
Delta / Parquet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66359" y="3675887"/>
            <a:ext cx="20116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4748B"/>
                </a:solidFill>
                <a:latin typeface="Consolas"/>
              </a:rPr>
              <a:t>bis_analytics
SQL views (T-SQL)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543800" y="3675887"/>
            <a:ext cx="20116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4748B"/>
                </a:solidFill>
                <a:latin typeface="Consolas"/>
              </a:rPr>
              <a:t>VertiPaq engine
DAX measures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21240" y="3675887"/>
            <a:ext cx="20116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4748B"/>
                </a:solidFill>
                <a:latin typeface="Consolas"/>
              </a:rPr>
              <a:t>Page 1: Deposits
Page 2: Maturity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20040" y="4480560"/>
            <a:ext cx="11548872" cy="1115568"/>
          </a:xfrm>
          <a:prstGeom prst="rect">
            <a:avLst/>
          </a:prstGeom>
          <a:solidFill>
            <a:srgbClr val="E8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20040" y="4480560"/>
            <a:ext cx="64008" cy="1115568"/>
          </a:xfrm>
          <a:prstGeom prst="rect">
            <a:avLst/>
          </a:prstGeom>
          <a:solidFill>
            <a:srgbClr val="1C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454456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C3354"/>
                </a:solidFill>
                <a:latin typeface="Calibri"/>
              </a:rPr>
              <a:t>In BIS production: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" y="4864608"/>
            <a:ext cx="111556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Findur → Fabric Data Factory  ·  dbt Cloud or dbt Core  ·  Direct Lake (Delta tables)  ·  Power BI Service with RLS  ·  Azure DevOps CI/CD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2920" y="5248656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  <a:latin typeface="Calibri"/>
              </a:rPr>
              <a:t>Architecture is identical — the project uses the same tools at every layer.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11480" y="5806440"/>
            <a:ext cx="2176272" cy="320040"/>
          </a:xfrm>
          <a:prstGeom prst="rect">
            <a:avLst/>
          </a:prstGeom>
          <a:solidFill>
            <a:srgbClr val="14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11480" y="5824727"/>
            <a:ext cx="217627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MS Fabric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761488" y="5806440"/>
            <a:ext cx="2176272" cy="320040"/>
          </a:xfrm>
          <a:prstGeom prst="rect">
            <a:avLst/>
          </a:prstGeom>
          <a:solidFill>
            <a:srgbClr val="14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761488" y="5824727"/>
            <a:ext cx="217627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dbt Core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111496" y="5806440"/>
            <a:ext cx="2176272" cy="320040"/>
          </a:xfrm>
          <a:prstGeom prst="rect">
            <a:avLst/>
          </a:prstGeom>
          <a:solidFill>
            <a:srgbClr val="14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111496" y="5824727"/>
            <a:ext cx="217627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T-SQL / Views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461503" y="5806440"/>
            <a:ext cx="2176272" cy="320040"/>
          </a:xfrm>
          <a:prstGeom prst="rect">
            <a:avLst/>
          </a:prstGeom>
          <a:solidFill>
            <a:srgbClr val="14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461503" y="5824727"/>
            <a:ext cx="217627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Power BI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811511" y="5806440"/>
            <a:ext cx="2176272" cy="320040"/>
          </a:xfrm>
          <a:prstGeom prst="rect">
            <a:avLst/>
          </a:prstGeom>
          <a:solidFill>
            <a:srgbClr val="14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811511" y="5824727"/>
            <a:ext cx="217627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Azure CLI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4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82880"/>
            <a:ext cx="91440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Data Model — Star Schema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E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1115568"/>
            <a:ext cx="1417320" cy="658368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12" y="1170432"/>
            <a:ext cx="1371600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STAGING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1965960" y="1115568"/>
            <a:ext cx="9811512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65960" y="1115568"/>
            <a:ext cx="54864" cy="658368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48840" y="115214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64748B"/>
                </a:solidFill>
                <a:latin typeface="Consolas"/>
              </a:rPr>
              <a:t>stg_deals · stg_fx_rates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48840" y="1444752"/>
            <a:ext cx="7589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4748B"/>
                </a:solidFill>
                <a:latin typeface="Calibri"/>
              </a:rPr>
              <a:t>type casting · no aggregation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901952"/>
            <a:ext cx="1417320" cy="658368"/>
          </a:xfrm>
          <a:prstGeom prst="rect">
            <a:avLst/>
          </a:prstGeom>
          <a:solidFill>
            <a:srgbClr val="4E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" y="1956816"/>
            <a:ext cx="1371600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INTERMEDIATE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965960" y="1901952"/>
            <a:ext cx="9811512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965960" y="1901952"/>
            <a:ext cx="54864" cy="658368"/>
          </a:xfrm>
          <a:prstGeom prst="rect">
            <a:avLst/>
          </a:prstGeom>
          <a:solidFill>
            <a:srgbClr val="4E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48840" y="1938528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E9A9A"/>
                </a:solidFill>
                <a:latin typeface="Consolas"/>
              </a:rPr>
              <a:t>int_deals_with_sdr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48840" y="2231136"/>
            <a:ext cx="7589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4748B"/>
                </a:solidFill>
                <a:latin typeface="Calibri"/>
              </a:rPr>
              <a:t>LEFT JOIN to FX rates · SDR calc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688336"/>
            <a:ext cx="1417320" cy="658368"/>
          </a:xfrm>
          <a:prstGeom prst="rect">
            <a:avLst/>
          </a:prstGeom>
          <a:solidFill>
            <a:srgbClr val="C483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" y="2743200"/>
            <a:ext cx="1371600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MART · DIM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965960" y="2688336"/>
            <a:ext cx="9811512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965960" y="2688336"/>
            <a:ext cx="54864" cy="658368"/>
          </a:xfrm>
          <a:prstGeom prst="rect">
            <a:avLst/>
          </a:prstGeom>
          <a:solidFill>
            <a:srgbClr val="C483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148840" y="2724912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C48310"/>
                </a:solidFill>
                <a:latin typeface="Consolas"/>
              </a:rPr>
              <a:t>dim_counterparty · dim_currency · dim_product · dim_date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48840" y="3017520"/>
            <a:ext cx="7589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4748B"/>
                </a:solidFill>
                <a:latin typeface="Calibri"/>
              </a:rPr>
              <a:t>lookup + classification tables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3474720"/>
            <a:ext cx="1417320" cy="658368"/>
          </a:xfrm>
          <a:prstGeom prst="rect">
            <a:avLst/>
          </a:prstGeom>
          <a:solidFill>
            <a:srgbClr val="1C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" y="3529584"/>
            <a:ext cx="1371600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MART · FACT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965960" y="3474720"/>
            <a:ext cx="9811512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965960" y="3474720"/>
            <a:ext cx="54864" cy="658368"/>
          </a:xfrm>
          <a:prstGeom prst="rect">
            <a:avLst/>
          </a:prstGeom>
          <a:solidFill>
            <a:srgbClr val="1C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148840" y="351129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C3354"/>
                </a:solidFill>
                <a:latin typeface="Consolas"/>
              </a:rPr>
              <a:t>fct_currency_deposits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48840" y="3803904"/>
            <a:ext cx="7589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4748B"/>
                </a:solidFill>
                <a:latin typeface="Calibri"/>
              </a:rPr>
              <a:t>grain: deal_id · 4 FK + 3 date FK · 4 measures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4261104"/>
            <a:ext cx="1417320" cy="658368"/>
          </a:xfrm>
          <a:prstGeom prst="rect">
            <a:avLst/>
          </a:prstGeom>
          <a:solidFill>
            <a:srgbClr val="2D9D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8912" y="4315968"/>
            <a:ext cx="1371600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ANALYTICS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965960" y="4261104"/>
            <a:ext cx="9811512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965960" y="4261104"/>
            <a:ext cx="54864" cy="658368"/>
          </a:xfrm>
          <a:prstGeom prst="rect">
            <a:avLst/>
          </a:prstGeom>
          <a:solidFill>
            <a:srgbClr val="2D9D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148840" y="4297680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2D9D78"/>
                </a:solidFill>
                <a:latin typeface="Consolas"/>
              </a:rPr>
              <a:t>mart_maturity_ladder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48840" y="4590288"/>
            <a:ext cx="7589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4748B"/>
                </a:solidFill>
                <a:latin typeface="Calibri"/>
              </a:rPr>
              <a:t>24 as-of dates × 7 buckets · standalone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51560" y="1773936"/>
            <a:ext cx="45720" cy="1280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051560" y="2560320"/>
            <a:ext cx="45720" cy="1280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51560" y="3346704"/>
            <a:ext cx="45720" cy="1280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51560" y="4133087"/>
            <a:ext cx="45720" cy="1280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772400" y="1115568"/>
            <a:ext cx="4114800" cy="51663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909560" y="1170432"/>
            <a:ext cx="3840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C3354"/>
                </a:solidFill>
                <a:latin typeface="Calibri"/>
              </a:rPr>
              <a:t>Star Schema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796528" y="2286000"/>
            <a:ext cx="1828800" cy="1417320"/>
          </a:xfrm>
          <a:prstGeom prst="rect">
            <a:avLst/>
          </a:prstGeom>
          <a:solidFill>
            <a:srgbClr val="1C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23960" y="2423160"/>
            <a:ext cx="17830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fct_currency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23960" y="2788920"/>
            <a:ext cx="1783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_deposits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823960" y="3108960"/>
            <a:ext cx="1783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E8A020"/>
                </a:solidFill>
                <a:latin typeface="Calibri"/>
              </a:rPr>
              <a:t>[ FACT ]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979408" y="1389888"/>
            <a:ext cx="1280160" cy="47548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025128" y="1481328"/>
            <a:ext cx="118871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date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818120" y="2697480"/>
            <a:ext cx="1371600" cy="475488"/>
          </a:xfrm>
          <a:prstGeom prst="rect">
            <a:avLst/>
          </a:prstGeom>
          <a:solidFill>
            <a:srgbClr val="C483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863840" y="2788920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counterparty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716768" y="2697480"/>
            <a:ext cx="1280160" cy="475488"/>
          </a:xfrm>
          <a:prstGeom prst="rect">
            <a:avLst/>
          </a:prstGeom>
          <a:solidFill>
            <a:srgbClr val="2D9D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762488" y="2788920"/>
            <a:ext cx="118871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currency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979408" y="4251960"/>
            <a:ext cx="1280160" cy="475488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025128" y="4343400"/>
            <a:ext cx="118871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product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692640" y="1865376"/>
            <a:ext cx="36576" cy="420624"/>
          </a:xfrm>
          <a:prstGeom prst="rect">
            <a:avLst/>
          </a:prstGeom>
          <a:solidFill>
            <a:srgbClr val="B0B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189720" y="2926080"/>
            <a:ext cx="521207" cy="36576"/>
          </a:xfrm>
          <a:prstGeom prst="rect">
            <a:avLst/>
          </a:prstGeom>
          <a:solidFill>
            <a:srgbClr val="B0B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625328" y="2926080"/>
            <a:ext cx="91440" cy="36576"/>
          </a:xfrm>
          <a:prstGeom prst="rect">
            <a:avLst/>
          </a:prstGeom>
          <a:solidFill>
            <a:srgbClr val="B0B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9692640" y="3703320"/>
            <a:ext cx="36576" cy="548640"/>
          </a:xfrm>
          <a:prstGeom prst="rect">
            <a:avLst/>
          </a:prstGeom>
          <a:solidFill>
            <a:srgbClr val="B0B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818120" y="5029200"/>
            <a:ext cx="3749039" cy="475488"/>
          </a:xfrm>
          <a:prstGeom prst="rect">
            <a:avLst/>
          </a:prstGeom>
          <a:solidFill>
            <a:srgbClr val="2D9D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882127" y="509320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mart_maturity_ladder  (standalone)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4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82880"/>
            <a:ext cx="109728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Maturity Ladder — Liquidity Risk Analytics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E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1115568"/>
            <a:ext cx="5577840" cy="5440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115568"/>
            <a:ext cx="5577840" cy="347472"/>
          </a:xfrm>
          <a:prstGeom prst="rect">
            <a:avLst/>
          </a:prstGeom>
          <a:solidFill>
            <a:srgbClr val="1C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152144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What is a maturity ladder?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572768"/>
            <a:ext cx="523036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A liquidity risk report showing how much of the deposit book matures in each time window at a specific point in time. Used daily by BIS treasury and risk teams.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956816"/>
            <a:ext cx="523036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340864"/>
            <a:ext cx="523036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7 maturity buckets: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724912"/>
            <a:ext cx="91440" cy="27432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2706624"/>
            <a:ext cx="15544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64748B"/>
                </a:solidFill>
                <a:latin typeface="Consolas"/>
              </a:rPr>
              <a:t>1. Overnight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04288" y="2706624"/>
            <a:ext cx="333756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Sight accounts — redeemable any time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3072384"/>
            <a:ext cx="91440" cy="2743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" y="3054096"/>
            <a:ext cx="15544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0D9488"/>
                </a:solidFill>
                <a:latin typeface="Consolas"/>
              </a:rPr>
              <a:t>2. ≤ 1 Week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04288" y="3054096"/>
            <a:ext cx="333756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days_to_maturity ≤ 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3419856"/>
            <a:ext cx="91440" cy="274320"/>
          </a:xfrm>
          <a:prstGeom prst="rect">
            <a:avLst/>
          </a:prstGeom>
          <a:solidFill>
            <a:srgbClr val="2D9D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3401568"/>
            <a:ext cx="15544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2D9D78"/>
                </a:solidFill>
                <a:latin typeface="Consolas"/>
              </a:rPr>
              <a:t>3. ≤ 1 Month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3401568"/>
            <a:ext cx="333756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days_to_maturity ≤ 30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767328"/>
            <a:ext cx="91440" cy="274320"/>
          </a:xfrm>
          <a:prstGeom prst="rect">
            <a:avLst/>
          </a:prstGeom>
          <a:solidFill>
            <a:srgbClr val="1C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3749040"/>
            <a:ext cx="15544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C3354"/>
                </a:solidFill>
                <a:latin typeface="Consolas"/>
              </a:rPr>
              <a:t>4. ≤ 3 Months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04288" y="3749040"/>
            <a:ext cx="333756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days_to_maturity ≤ 90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4114800"/>
            <a:ext cx="91440" cy="274320"/>
          </a:xfrm>
          <a:prstGeom prst="rect">
            <a:avLst/>
          </a:prstGeom>
          <a:solidFill>
            <a:srgbClr val="C483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4096512"/>
            <a:ext cx="15544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C48310"/>
                </a:solidFill>
                <a:latin typeface="Consolas"/>
              </a:rPr>
              <a:t>5. ≤ 6 Months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04288" y="4096512"/>
            <a:ext cx="333756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days_to_maturity ≤ 180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4462272"/>
            <a:ext cx="91440" cy="2743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3232" y="4443984"/>
            <a:ext cx="15544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7C3AED"/>
                </a:solidFill>
                <a:latin typeface="Consolas"/>
              </a:rPr>
              <a:t>6. ≤ 1 Year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04288" y="4443984"/>
            <a:ext cx="333756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days_to_maturity ≤ 365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4809744"/>
            <a:ext cx="91440" cy="274320"/>
          </a:xfrm>
          <a:prstGeom prst="rect">
            <a:avLst/>
          </a:prstGeom>
          <a:solidFill>
            <a:srgbClr val="DC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3232" y="4791456"/>
            <a:ext cx="15544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DC2B2B"/>
                </a:solidFill>
                <a:latin typeface="Consolas"/>
              </a:rPr>
              <a:t>7. &gt; 1 Year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04288" y="4791456"/>
            <a:ext cx="333756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days_to_maturity &gt; 365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63640" y="1115568"/>
            <a:ext cx="5605272" cy="5440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63640" y="1115568"/>
            <a:ext cx="5605272" cy="34747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19088" y="1152144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How it's built — hybrid approach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55080" y="1572768"/>
            <a:ext cx="384048" cy="384048"/>
          </a:xfrm>
          <a:prstGeom prst="rect">
            <a:avLst/>
          </a:prstGeom>
          <a:solidFill>
            <a:srgbClr val="1C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55080" y="1609344"/>
            <a:ext cx="38404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30568" y="1572768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C3354"/>
                </a:solidFill>
                <a:latin typeface="Calibri"/>
              </a:rPr>
              <a:t>CROSS JOIN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0568" y="1810512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500 active deals × 24 month-ends
= 12,000 (deal, as-of date) pairs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55080" y="2395728"/>
            <a:ext cx="384048" cy="38404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55080" y="2432304"/>
            <a:ext cx="38404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30568" y="2395728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D9488"/>
                </a:solidFill>
                <a:latin typeface="Calibri"/>
              </a:rPr>
              <a:t>days_to_maturity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0568" y="2633472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DATEDIFF(day, as_of_date,
maturity_date) per pair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55080" y="3218688"/>
            <a:ext cx="384048" cy="384048"/>
          </a:xfrm>
          <a:prstGeom prst="rect">
            <a:avLst/>
          </a:prstGeom>
          <a:solidFill>
            <a:srgbClr val="2D9D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55080" y="3255264"/>
            <a:ext cx="38404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30568" y="3218688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D9D78"/>
                </a:solidFill>
                <a:latin typeface="Calibri"/>
              </a:rPr>
              <a:t>Bucket logic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0568" y="3456432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CASE WHEN in dbt SQL assigns
each pair to 1 of 7 buckets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355080" y="4041648"/>
            <a:ext cx="384048" cy="384048"/>
          </a:xfrm>
          <a:prstGeom prst="rect">
            <a:avLst/>
          </a:prstGeom>
          <a:solidFill>
            <a:srgbClr val="C483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55080" y="4078224"/>
            <a:ext cx="38404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30568" y="4041648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C48310"/>
                </a:solidFill>
                <a:latin typeface="Calibri"/>
              </a:rPr>
              <a:t>Aggregate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30568" y="4279392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COUNT + SUM per (as_of_date,
bucket) → 71 rows output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55080" y="4864608"/>
            <a:ext cx="384048" cy="384048"/>
          </a:xfrm>
          <a:prstGeom prst="rect">
            <a:avLst/>
          </a:prstGeom>
          <a:solidFill>
            <a:srgbClr val="1C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55080" y="4901184"/>
            <a:ext cx="38404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30568" y="4864608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C3354"/>
                </a:solidFill>
                <a:latin typeface="Calibri"/>
              </a:rPr>
              <a:t>Power BI slicer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830568" y="5102352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User picks as_of_date →
chart shows that snapshot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355080" y="5742432"/>
            <a:ext cx="5303520" cy="566928"/>
          </a:xfrm>
          <a:prstGeom prst="rect">
            <a:avLst/>
          </a:prstGeom>
          <a:solidFill>
            <a:srgbClr val="E8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355080" y="5742432"/>
            <a:ext cx="64008" cy="566928"/>
          </a:xfrm>
          <a:prstGeom prst="rect">
            <a:avLst/>
          </a:prstGeom>
          <a:solidFill>
            <a:srgbClr val="2D9D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92240" y="5833872"/>
            <a:ext cx="50292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D9D78"/>
                </a:solidFill>
                <a:latin typeface="Calibri"/>
              </a:rPr>
              <a:t>✓  71 rows · 24 dates × up to 7 buckets · dbt run PASS=1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4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82880"/>
            <a:ext cx="91440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Power BI Report — Deliverables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E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1115568"/>
            <a:ext cx="5440680" cy="5440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115568"/>
            <a:ext cx="5440680" cy="365760"/>
          </a:xfrm>
          <a:prstGeom prst="rect">
            <a:avLst/>
          </a:prstGeom>
          <a:solidFill>
            <a:srgbClr val="1C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152144"/>
            <a:ext cx="5120640" cy="301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Page 1 — Deposit Book Overview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27632"/>
            <a:ext cx="91440" cy="640080"/>
          </a:xfrm>
          <a:prstGeom prst="rect">
            <a:avLst/>
          </a:prstGeom>
          <a:solidFill>
            <a:srgbClr val="1C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645920"/>
            <a:ext cx="19202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C3354"/>
                </a:solidFill>
                <a:latin typeface="Calibri"/>
              </a:rPr>
              <a:t>Stacked bar chart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938528"/>
            <a:ext cx="493776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Total SDR by Region — 6 regions, matches Annual Report Graph 4.3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523744"/>
            <a:ext cx="91440" cy="640080"/>
          </a:xfrm>
          <a:prstGeom prst="rect">
            <a:avLst/>
          </a:prstGeom>
          <a:solidFill>
            <a:srgbClr val="1C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542032"/>
            <a:ext cx="19202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C3354"/>
                </a:solidFill>
                <a:latin typeface="Calibri"/>
              </a:rPr>
              <a:t>Grouped bar chart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834640"/>
            <a:ext cx="493776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Deposits by Fiscal Year — FY2023-24 vs FY2024-25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419856"/>
            <a:ext cx="91440" cy="640080"/>
          </a:xfrm>
          <a:prstGeom prst="rect">
            <a:avLst/>
          </a:prstGeom>
          <a:solidFill>
            <a:srgbClr val="1C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438144"/>
            <a:ext cx="19202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C3354"/>
                </a:solidFill>
                <a:latin typeface="Calibri"/>
              </a:rPr>
              <a:t>Slicer (dropdown)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730752"/>
            <a:ext cx="493776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Fiscal Year filter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315968"/>
            <a:ext cx="91440" cy="640080"/>
          </a:xfrm>
          <a:prstGeom prst="rect">
            <a:avLst/>
          </a:prstGeom>
          <a:solidFill>
            <a:srgbClr val="1C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334256"/>
            <a:ext cx="19202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C3354"/>
                </a:solidFill>
                <a:latin typeface="Calibri"/>
              </a:rPr>
              <a:t>Slicer (dropdown)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626864"/>
            <a:ext cx="493776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Currency filter (10 currencies)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5212080"/>
            <a:ext cx="91440" cy="640080"/>
          </a:xfrm>
          <a:prstGeom prst="rect">
            <a:avLst/>
          </a:prstGeom>
          <a:solidFill>
            <a:srgbClr val="1C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230368"/>
            <a:ext cx="19202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C3354"/>
                </a:solidFill>
                <a:latin typeface="Calibri"/>
              </a:rPr>
              <a:t>KPI cards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5522976"/>
            <a:ext cx="493776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Total SDR · Deal Count · Avg Rate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9360" y="1115568"/>
            <a:ext cx="5468112" cy="5440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309360" y="1115568"/>
            <a:ext cx="5468112" cy="3657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4808" y="1152144"/>
            <a:ext cx="5120640" cy="301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Page 2 — Counterparty &amp; Maturity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1627632"/>
            <a:ext cx="91440" cy="64008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0" y="1645920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0D9488"/>
                </a:solidFill>
                <a:latin typeface="Calibri"/>
              </a:rPr>
              <a:t>Table visual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1938528"/>
            <a:ext cx="493776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Top counterparties: cpty_name · region · total SDR (Bn)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0" y="2523744"/>
            <a:ext cx="91440" cy="64008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0" y="2542032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0D9488"/>
                </a:solidFill>
                <a:latin typeface="Calibri"/>
              </a:rPr>
              <a:t>Bar chart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2834640"/>
            <a:ext cx="493776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Maturity ladder — 7 buckets, sorted by time horizon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3419856"/>
            <a:ext cx="91440" cy="64008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0" y="3438144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0D9488"/>
                </a:solidFill>
                <a:latin typeface="Calibri"/>
              </a:rPr>
              <a:t>Slicer (dropdown)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0" y="3730752"/>
            <a:ext cx="493776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as_of_date — 24 month-ends Apr 2023 → Mar 2025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0" y="4315968"/>
            <a:ext cx="91440" cy="64008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83680" y="4334256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0D9488"/>
                </a:solidFill>
                <a:latin typeface="Calibri"/>
              </a:rPr>
              <a:t>Slicer (list)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0" y="4626864"/>
            <a:ext cx="493776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Region filter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0" y="5212080"/>
            <a:ext cx="91440" cy="64008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83680" y="5230368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0D9488"/>
                </a:solidFill>
                <a:latin typeface="Calibri"/>
              </a:rPr>
              <a:t>Interaction fix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0" y="5522976"/>
            <a:ext cx="493776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FY slicer does not filter FY comparison chart (self-filter fix)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4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82880"/>
            <a:ext cx="109728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Tech Stack — Project vs BIS Production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E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1115568"/>
            <a:ext cx="2331720" cy="384048"/>
          </a:xfrm>
          <a:prstGeom prst="rect">
            <a:avLst/>
          </a:prstGeom>
          <a:solidFill>
            <a:srgbClr val="14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834640" y="1115568"/>
            <a:ext cx="4206240" cy="38404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132320" y="1115568"/>
            <a:ext cx="4663440" cy="384048"/>
          </a:xfrm>
          <a:prstGeom prst="rect">
            <a:avLst/>
          </a:prstGeom>
          <a:solidFill>
            <a:srgbClr val="1C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70432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Layer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1170432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This Project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0" y="1170432"/>
            <a:ext cx="44805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BIS Production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572768"/>
            <a:ext cx="11384280" cy="64008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1572768"/>
            <a:ext cx="54864" cy="640080"/>
          </a:xfrm>
          <a:prstGeom prst="rect">
            <a:avLst/>
          </a:prstGeom>
          <a:solidFill>
            <a:srgbClr val="14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609344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C3354"/>
                </a:solidFill>
                <a:latin typeface="Calibri"/>
              </a:rPr>
              <a:t>Source system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4640" y="1609344"/>
            <a:ext cx="4114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Python-generated CSV
(Findur simulation)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1609344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Openlink Findur
(live extract)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2231136"/>
            <a:ext cx="1138428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1480" y="2231136"/>
            <a:ext cx="54864" cy="640080"/>
          </a:xfrm>
          <a:prstGeom prst="rect">
            <a:avLst/>
          </a:prstGeom>
          <a:solidFill>
            <a:srgbClr val="14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2267712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C3354"/>
                </a:solidFill>
                <a:latin typeface="Calibri"/>
              </a:rPr>
              <a:t>Raw ingestion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40" y="2267712"/>
            <a:ext cx="4114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PySpark notebook
(CSV → Delta / OneLake)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0" y="2267712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Fabric Data Factory
(scheduled pipeline)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2889504"/>
            <a:ext cx="11384280" cy="64008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1480" y="2889504"/>
            <a:ext cx="54864" cy="640080"/>
          </a:xfrm>
          <a:prstGeom prst="rect">
            <a:avLst/>
          </a:prstGeom>
          <a:solidFill>
            <a:srgbClr val="14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292608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C3354"/>
                </a:solidFill>
                <a:latin typeface="Calibri"/>
              </a:rPr>
              <a:t>Transformation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34640" y="2926080"/>
            <a:ext cx="4114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dbt Core (CLI)
9 SQL models,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0" y="2926080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dbt Core or dbt Cloud
Fabric SQL Endpoint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3547872"/>
            <a:ext cx="1138428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11480" y="3547872"/>
            <a:ext cx="54864" cy="640080"/>
          </a:xfrm>
          <a:prstGeom prst="rect">
            <a:avLst/>
          </a:prstGeom>
          <a:solidFill>
            <a:srgbClr val="14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3584448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C3354"/>
                </a:solidFill>
                <a:latin typeface="Calibri"/>
              </a:rPr>
              <a:t>Semantic model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34640" y="3584448"/>
            <a:ext cx="4114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Power BI Import mode
SQL Server connector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32320" y="3584448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Power BI Direct Lake
(Delta tables)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4206240"/>
            <a:ext cx="11384280" cy="64008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11480" y="4206240"/>
            <a:ext cx="54864" cy="640080"/>
          </a:xfrm>
          <a:prstGeom prst="rect">
            <a:avLst/>
          </a:prstGeom>
          <a:solidFill>
            <a:srgbClr val="14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4242816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C3354"/>
                </a:solidFill>
                <a:latin typeface="Calibri"/>
              </a:rPr>
              <a:t>Reporting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834640" y="4242816"/>
            <a:ext cx="4114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Power BI Desktop
(local publish)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32320" y="4242816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Power BI Service
RLS · certified dataset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1480" y="4864607"/>
            <a:ext cx="1138428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11480" y="4864607"/>
            <a:ext cx="54864" cy="640080"/>
          </a:xfrm>
          <a:prstGeom prst="rect">
            <a:avLst/>
          </a:prstGeom>
          <a:solidFill>
            <a:srgbClr val="14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4901183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C3354"/>
                </a:solidFill>
                <a:latin typeface="Calibri"/>
              </a:rPr>
              <a:t>Auth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834640" y="4901183"/>
            <a:ext cx="4114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Azure CLI interactive
(az login)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32320" y="4901183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Service Principal
Managed Identity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1480" y="5522976"/>
            <a:ext cx="11384280" cy="64008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11480" y="5522976"/>
            <a:ext cx="54864" cy="640080"/>
          </a:xfrm>
          <a:prstGeom prst="rect">
            <a:avLst/>
          </a:prstGeom>
          <a:solidFill>
            <a:srgbClr val="14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8640" y="5559552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C3354"/>
                </a:solidFill>
                <a:latin typeface="Calibri"/>
              </a:rPr>
              <a:t>Orchestration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34640" y="5559552"/>
            <a:ext cx="4114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Manual CLI (dbt run)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132320" y="5559552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Fabric Data Factory
Azure DevOps CI/CD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11480" y="6199632"/>
            <a:ext cx="11384280" cy="457200"/>
          </a:xfrm>
          <a:prstGeom prst="rect">
            <a:avLst/>
          </a:prstGeom>
          <a:solidFill>
            <a:srgbClr val="E8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11480" y="6199632"/>
            <a:ext cx="64008" cy="457200"/>
          </a:xfrm>
          <a:prstGeom prst="rect">
            <a:avLst/>
          </a:prstGeom>
          <a:solidFill>
            <a:srgbClr val="2D9D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66928" y="6291072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D9D78"/>
                </a:solidFill>
                <a:latin typeface="Calibri"/>
              </a:rPr>
              <a:t>Architecture is identical — differences are automation, live data sources, and auth method only.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731520"/>
            <a:ext cx="4572000" cy="4572000"/>
          </a:xfrm>
          <a:prstGeom prst="ellipse">
            <a:avLst/>
          </a:prstGeom>
          <a:solidFill>
            <a:srgbClr val="2D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91440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Let's connect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965960"/>
            <a:ext cx="8686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A0B4CC"/>
                </a:solidFill>
                <a:latin typeface="Calibri"/>
              </a:rPr>
              <a:t>I built this pipeline specifically to demonstrate readiness for the BIS Banking Department analytics role.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761488"/>
            <a:ext cx="5486400" cy="18288"/>
          </a:xfrm>
          <a:prstGeom prst="rect">
            <a:avLst/>
          </a:prstGeom>
          <a:solidFill>
            <a:srgbClr val="2D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2907792"/>
            <a:ext cx="137160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E8A020"/>
                </a:solidFill>
                <a:latin typeface="Calibri"/>
              </a:rPr>
              <a:t>Email: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2907792"/>
            <a:ext cx="868680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sosa_ny@hotmail.com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474720"/>
            <a:ext cx="137160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E8A020"/>
                </a:solidFill>
                <a:latin typeface="Calibri"/>
              </a:rPr>
              <a:t>Role: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3474720"/>
            <a:ext cx="868680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Senior Business Data Analyst — BIS Banking Department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041648"/>
            <a:ext cx="137160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E8A020"/>
                </a:solidFill>
                <a:latin typeface="Calibri"/>
              </a:rPr>
              <a:t>Stack: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4041648"/>
            <a:ext cx="868680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MS Fabric  ·  dbt Core  ·  Power BI  ·  T-SQL  ·  Python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608576"/>
            <a:ext cx="137160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E8A020"/>
                </a:solidFill>
                <a:latin typeface="Calibri"/>
              </a:rPr>
              <a:t>Project: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4608576"/>
            <a:ext cx="868680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BIS_Project_2026 — full pipeline available on request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5349240"/>
            <a:ext cx="5486400" cy="18288"/>
          </a:xfrm>
          <a:prstGeom prst="rect">
            <a:avLst/>
          </a:prstGeom>
          <a:solidFill>
            <a:srgbClr val="2D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5532120"/>
            <a:ext cx="73152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E8A020"/>
                </a:solidFill>
                <a:latin typeface="Calibri"/>
              </a:rPr>
              <a:t>Thank you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053328"/>
            <a:ext cx="9144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0B4CC"/>
                </a:solidFill>
                <a:latin typeface="Calibri"/>
              </a:rPr>
              <a:t>I look forward to contributing to the BIS Banking Department analytics team.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