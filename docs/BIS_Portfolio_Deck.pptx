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7" r:id="rId11"/>
    <p:sldId id="264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11/relationships/webextension" Target="../webextensions/webextension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ny-analytics/BIS_Analytics_Pipeline/tree/main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412480" y="-914400"/>
            <a:ext cx="4114800" cy="4114800"/>
          </a:xfrm>
          <a:prstGeom prst="ellipse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3840480"/>
            <a:ext cx="2926080" cy="2926080"/>
          </a:xfrm>
          <a:prstGeom prst="ellipse">
            <a:avLst/>
          </a:prstGeom>
          <a:solidFill>
            <a:srgbClr val="22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02920" y="1463040"/>
            <a:ext cx="2011680" cy="292608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72184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 i="0">
                <a:solidFill>
                  <a:srgbClr val="14263D"/>
                </a:solidFill>
                <a:latin typeface="Calibri"/>
              </a:rPr>
              <a:t>PORTFOLIO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BIS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5200" b="1" i="0">
                <a:solidFill>
                  <a:srgbClr val="E8A020"/>
                </a:solidFill>
                <a:latin typeface="Calibri"/>
              </a:rPr>
              <a:t>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749039"/>
            <a:ext cx="8229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 dirty="0">
                <a:solidFill>
                  <a:srgbClr val="A0B4CC"/>
                </a:solidFill>
                <a:latin typeface="Calibri"/>
              </a:rPr>
              <a:t>MS Fabric  ·  dbt Core  ·  Power BI  ·  T-SQL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297680"/>
            <a:ext cx="5943600" cy="18288"/>
          </a:xfrm>
          <a:prstGeom prst="rect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4407408"/>
            <a:ext cx="45720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Gauthier 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828032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0" i="0">
                <a:solidFill>
                  <a:srgbClr val="A0B4CC"/>
                </a:solidFill>
                <a:latin typeface="Calibri"/>
              </a:rPr>
              <a:t>Candidate — Senior Business 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303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1133856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1E293B"/>
                </a:solidFill>
                <a:latin typeface="Calibri"/>
              </a:rPr>
              <a:t>Built a production-grade currency deposit analytics pipeline mirroring the BIS Banking Department tech stack — from synthetic Findur data to published Power BI report.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920240"/>
            <a:ext cx="25603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64008" cy="1508760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1C3354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3347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dbt models
across 4 layers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1920240"/>
            <a:ext cx="25603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46120" y="1920240"/>
            <a:ext cx="64008" cy="1508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29000" y="199339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0D9488"/>
                </a:solidFill>
                <a:latin typeface="Calibri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63347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month-end
as-of dates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920240"/>
            <a:ext cx="25603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920240"/>
            <a:ext cx="64008" cy="1508760"/>
          </a:xfrm>
          <a:prstGeom prst="rect">
            <a:avLst/>
          </a:prstGeom>
          <a:solidFill>
            <a:srgbClr val="C4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993392"/>
            <a:ext cx="228600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 dirty="0">
                <a:solidFill>
                  <a:srgbClr val="C48310"/>
                </a:solidFill>
                <a:latin typeface="Calibri"/>
              </a:rPr>
              <a:t>SDR </a:t>
            </a:r>
            <a:r>
              <a:rPr lang="en-US" sz="3400" b="1" dirty="0">
                <a:solidFill>
                  <a:srgbClr val="C48310"/>
                </a:solidFill>
                <a:latin typeface="Calibri"/>
              </a:rPr>
              <a:t>297</a:t>
            </a:r>
            <a:r>
              <a:rPr sz="3400" b="1" i="0" dirty="0">
                <a:solidFill>
                  <a:srgbClr val="C48310"/>
                </a:solidFill>
                <a:latin typeface="Calibri"/>
              </a:rPr>
              <a:t>bn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33472"/>
            <a:ext cx="228600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1100" dirty="0" err="1">
                <a:solidFill>
                  <a:srgbClr val="64748B"/>
                </a:solidFill>
                <a:latin typeface="Calibri"/>
              </a:rPr>
              <a:t>Avg</a:t>
            </a:r>
            <a:r>
              <a:rPr lang="en-GB" sz="1100" dirty="0">
                <a:solidFill>
                  <a:srgbClr val="64748B"/>
                </a:solidFill>
                <a:latin typeface="Calibri"/>
              </a:rPr>
              <a:t> active book</a:t>
            </a:r>
            <a:endParaRPr sz="1100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915400" y="1920240"/>
            <a:ext cx="25603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15400" y="1920240"/>
            <a:ext cx="64008" cy="1508760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98280" y="199339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400" b="1" i="0">
                <a:solidFill>
                  <a:srgbClr val="2D9D78"/>
                </a:solidFill>
                <a:latin typeface="Calibri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633472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Power BI visuals
2 report pages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657600"/>
            <a:ext cx="3749039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11480" y="3657600"/>
            <a:ext cx="3749039" cy="347472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369417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11480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Currency deposit analytics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626864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Star schema (1 fact + 4 dims)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38928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Maturity ladder mart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5099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Fiscal year Apr → Mar (BIS convention)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657600"/>
            <a:ext cx="3749039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43400" y="3657600"/>
            <a:ext cx="3749039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80560" y="369417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11480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Demonstrates BIS-stack readiness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4626864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Domain: SDR, FIXBIS, MTI, Sight, Notice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5138928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Business logic from Annual Report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565099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Data validated against p.105-106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75319" y="3657600"/>
            <a:ext cx="3749039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275319" y="3657600"/>
            <a:ext cx="3749039" cy="347472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3694176"/>
            <a:ext cx="34747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114800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Python → Fabric OneLake → dbt → Power BI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4626864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9 SQL models, all materialised as views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138928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Azure CLI auth → Fabric SQL Endpoint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650992"/>
            <a:ext cx="3520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• dbt run PASS=9 / Power BI refresh 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BIS Domain Knowledge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10972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64748B"/>
                </a:solidFill>
                <a:latin typeface="Calibri"/>
              </a:rPr>
              <a:t>All business logic validated against BIS Annual Report 2024/25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536192"/>
            <a:ext cx="53949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11480" y="1536192"/>
            <a:ext cx="5394960" cy="347472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SDR — Unit of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57276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E8A020"/>
                </a:solidFill>
                <a:latin typeface="Calibri"/>
              </a:rPr>
              <a:t>p.103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93392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Special Drawing Right — IMF basket of 5 currencies: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322576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48310"/>
                </a:solidFill>
                <a:latin typeface="Calibri"/>
              </a:rPr>
              <a:t>USD · EUR · GBP · JPY · CNY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65176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BIS reports all figures in SDR — pipeline converts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80944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every deal to SDR via monthly IMF rate feed.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536192"/>
            <a:ext cx="5696712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80760" y="1536192"/>
            <a:ext cx="5696712" cy="347472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36208" y="1572768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BIS Fiscal Year — April to March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1572768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E8A020"/>
                </a:solidFill>
                <a:latin typeface="Calibri"/>
              </a:rPr>
              <a:t>p.101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1993392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FY2023-24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199339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 Apr 2023 → 31 Mar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8" y="2322576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FY2024-25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71231" y="2322576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1 Apr 2024 → 31 Mar 2025  ← current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8" y="2651760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FQ1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1" y="2651760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April · May · June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980944"/>
            <a:ext cx="12801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FQ2–FQ4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71231" y="2980944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Jul–Sep · Oct–Dec · Jan–Mar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703320"/>
            <a:ext cx="539496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3703320"/>
            <a:ext cx="5394960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73989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Deposit Products (Findur codes)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373989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E8A020"/>
                </a:solidFill>
                <a:latin typeface="Calibri"/>
              </a:rPr>
              <a:t>p.105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4160520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FIXBIS_DEP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9968" y="4160520"/>
            <a:ext cx="363931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Fixed-rate deposit — fixed term &amp; rate. Most common.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672583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MTI_DEP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29968" y="4672583"/>
            <a:ext cx="363931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Medium-term instrument — 1–10yr tenor.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5184648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SIGHT_DEP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29968" y="5184648"/>
            <a:ext cx="363931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On-demand / overnight. No maturity date.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5696712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1" i="0">
                <a:solidFill>
                  <a:srgbClr val="0D9488"/>
                </a:solidFill>
                <a:latin typeface="Consolas"/>
              </a:rPr>
              <a:t>NOTICE_DEP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29968" y="5696712"/>
            <a:ext cx="3639312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Redeemable after advance notice period.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80760" y="3703320"/>
            <a:ext cx="5696712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080760" y="3703320"/>
            <a:ext cx="5696712" cy="347472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36208" y="3739896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Geographic Distribution of Deposits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3739896"/>
            <a:ext cx="548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 i="0">
                <a:solidFill>
                  <a:srgbClr val="E8A020"/>
                </a:solidFill>
                <a:latin typeface="Calibri"/>
              </a:rPr>
              <a:t>p.106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36208" y="416052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Asia-Pacific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30768" y="4160520"/>
            <a:ext cx="594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2D9D78"/>
                </a:solidFill>
                <a:latin typeface="Calibri"/>
              </a:rPr>
              <a:t>61%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9299" y="4224528"/>
            <a:ext cx="2607812" cy="155448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36208" y="452628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Americas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30768" y="4526280"/>
            <a:ext cx="594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0D9488"/>
                </a:solidFill>
                <a:latin typeface="Calibri"/>
              </a:rPr>
              <a:t> 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98280" y="4590288"/>
            <a:ext cx="475488" cy="1554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8" y="489204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Europe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30768" y="4892040"/>
            <a:ext cx="594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1C3354"/>
                </a:solidFill>
                <a:latin typeface="Calibri"/>
              </a:rPr>
              <a:t> 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098280" y="4956048"/>
            <a:ext cx="420624" cy="155448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36208" y="525780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Middle East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30768" y="5257800"/>
            <a:ext cx="594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C48310"/>
                </a:solidFill>
                <a:latin typeface="Calibri"/>
              </a:rPr>
              <a:t> 7%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5321808"/>
            <a:ext cx="365760" cy="155448"/>
          </a:xfrm>
          <a:prstGeom prst="rect">
            <a:avLst/>
          </a:prstGeom>
          <a:solidFill>
            <a:srgbClr val="C4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562356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Africa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30768" y="5623560"/>
            <a:ext cx="594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64748B"/>
                </a:solidFill>
                <a:latin typeface="Calibri"/>
              </a:rPr>
              <a:t> 6%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8280" y="5687568"/>
            <a:ext cx="320040" cy="15544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236208" y="5989320"/>
            <a:ext cx="214884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International institutions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30768" y="5989320"/>
            <a:ext cx="5943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1" i="0">
                <a:solidFill>
                  <a:srgbClr val="5B6B7E"/>
                </a:solidFill>
                <a:latin typeface="Calibri"/>
              </a:rPr>
              <a:t> 9%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98280" y="6053328"/>
            <a:ext cx="475488" cy="155448"/>
          </a:xfrm>
          <a:prstGeom prst="rect">
            <a:avLst/>
          </a:prstGeom>
          <a:solidFill>
            <a:srgbClr val="5B6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Pipeline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20040" y="1280160"/>
            <a:ext cx="21031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2103120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79" y="130759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162763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64748B"/>
                </a:solidFill>
                <a:latin typeface="Calibri"/>
              </a:rPr>
              <a:t>Openlink
Findur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322576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Simulated via
Python CSV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41448" y="2267712"/>
            <a:ext cx="38404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97480" y="2084831"/>
            <a:ext cx="347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&gt;&gt;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280160"/>
            <a:ext cx="21031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97480" y="1280160"/>
            <a:ext cx="2103120" cy="256032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130759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162763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1C3354"/>
                </a:solidFill>
                <a:latin typeface="Calibri"/>
              </a:rPr>
              <a:t>PySpark
Notebook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322576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CSV → Delta
tables (OneLake)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18888" y="2267712"/>
            <a:ext cx="38404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74920" y="2084831"/>
            <a:ext cx="347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&gt;&gt;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74920" y="1280160"/>
            <a:ext cx="21031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74920" y="1280160"/>
            <a:ext cx="210312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66359" y="130759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162763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0D9488"/>
                </a:solidFill>
                <a:latin typeface="Calibri"/>
              </a:rPr>
              <a:t>dbt Core
9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2322576"/>
            <a:ext cx="1920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50" dirty="0">
                <a:solidFill>
                  <a:srgbClr val="64748B"/>
                </a:solidFill>
                <a:latin typeface="Calibri"/>
              </a:rPr>
              <a:t>3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 layers:
stg→</a:t>
            </a:r>
            <a:r>
              <a:rPr lang="en-US" sz="10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int→</a:t>
            </a:r>
            <a:r>
              <a:rPr lang="en-US" sz="1050" b="0" i="0" dirty="0">
                <a:solidFill>
                  <a:srgbClr val="64748B"/>
                </a:solidFill>
                <a:latin typeface="Calibri"/>
              </a:rPr>
              <a:t> 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mart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96327" y="2267712"/>
            <a:ext cx="38404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2360" y="2084831"/>
            <a:ext cx="347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&gt;&gt;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1280160"/>
            <a:ext cx="21031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1280160"/>
            <a:ext cx="2103120" cy="256032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43800" y="130759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1627632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2D9D78"/>
                </a:solidFill>
                <a:latin typeface="Calibri"/>
              </a:rPr>
              <a:t>Semantic
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43800" y="2322576"/>
            <a:ext cx="1920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 dirty="0">
                <a:solidFill>
                  <a:srgbClr val="64748B"/>
                </a:solidFill>
                <a:latin typeface="Calibri"/>
              </a:rPr>
              <a:t>Import mode
</a:t>
            </a:r>
            <a:r>
              <a:rPr lang="en-US" sz="1050" b="0" i="0" dirty="0">
                <a:solidFill>
                  <a:srgbClr val="64748B"/>
                </a:solidFill>
                <a:latin typeface="Calibri"/>
              </a:rPr>
              <a:t>Fabric </a:t>
            </a:r>
            <a:r>
              <a:rPr sz="1050" b="0" i="0" dirty="0">
                <a:solidFill>
                  <a:srgbClr val="64748B"/>
                </a:solidFill>
                <a:latin typeface="Calibri"/>
              </a:rPr>
              <a:t>Power BI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73768" y="2267712"/>
            <a:ext cx="384048" cy="10972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29800" y="2084831"/>
            <a:ext cx="3474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&gt;&gt;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1280160"/>
            <a:ext cx="21031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829800" y="1280160"/>
            <a:ext cx="2103120" cy="256032"/>
          </a:xfrm>
          <a:prstGeom prst="rect">
            <a:avLst/>
          </a:prstGeom>
          <a:solidFill>
            <a:srgbClr val="C4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921240" y="1307592"/>
            <a:ext cx="1920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REPORT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1627632"/>
            <a:ext cx="192024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400" b="1" i="0" dirty="0">
                <a:solidFill>
                  <a:srgbClr val="C48310"/>
                </a:solidFill>
                <a:latin typeface="Calibri"/>
              </a:rPr>
              <a:t>Fabric </a:t>
            </a:r>
            <a:r>
              <a:rPr sz="1400" b="1" i="0" dirty="0">
                <a:solidFill>
                  <a:srgbClr val="C48310"/>
                </a:solidFill>
                <a:latin typeface="Calibri"/>
              </a:rPr>
              <a:t>Power BI
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2322576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2 pages · 10 visuals
4 slicers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79" y="3675887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onsolas"/>
              </a:rPr>
              <a:t>findur_export.csv
src_deals · src_fx_rates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88920" y="3675887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onsolas"/>
              </a:rPr>
              <a:t>bis_raw Lakehouse
Delta / Parquet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66359" y="3675887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onsolas"/>
              </a:rPr>
              <a:t>bis_analytics
SQL views (T-SQL)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3675887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onsolas"/>
              </a:rPr>
              <a:t>VertiPaq engine
DAX measures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3675887"/>
            <a:ext cx="20116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Consolas"/>
              </a:rPr>
              <a:t>Page 1: Deposits
Page 2: Maturity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480560"/>
            <a:ext cx="11548872" cy="111556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0040" y="4480560"/>
            <a:ext cx="64008" cy="1115568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454456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In BIS production: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4864608"/>
            <a:ext cx="1115568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1050" dirty="0"/>
              <a:t>Findur → Scheduled ETL pipeline (Spark / Cloudera CDS) · dbt Cloud or dbt Core · Lakehouse SQL endpoint (Delta / Parquet) · Power BI or Tableau with RLS · CI/CD pipeline (e.g. Azure DevOps)</a:t>
            </a:r>
            <a:endParaRPr sz="10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2920" y="5248656"/>
            <a:ext cx="1097280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00" i="1" dirty="0">
                <a:solidFill>
                  <a:srgbClr val="64748B"/>
                </a:solidFill>
              </a:rPr>
              <a:t>Core skills transfer directly — star schema, dbt, SDR metrics apply on any Lakehouse platform.</a:t>
            </a:r>
            <a:r>
              <a:rPr lang="en-US" sz="1000" b="0" i="1" dirty="0">
                <a:solidFill>
                  <a:srgbClr val="64748B"/>
                </a:solidFill>
                <a:latin typeface="Calibri"/>
              </a:rPr>
              <a:t> </a:t>
            </a:r>
            <a:endParaRPr sz="1000" i="1" dirty="0">
              <a:solidFill>
                <a:srgbClr val="64748B"/>
              </a:solidFill>
              <a:latin typeface="Calibr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411480" y="5806440"/>
            <a:ext cx="2176272" cy="32004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5824727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MS Fabric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61488" y="5806440"/>
            <a:ext cx="2176272" cy="32004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761488" y="5824727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dbt Core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111496" y="5806440"/>
            <a:ext cx="2176272" cy="32004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111496" y="5824727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T-SQL / Views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461503" y="5806440"/>
            <a:ext cx="2176272" cy="32004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461503" y="5824727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Power BI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11511" y="5806440"/>
            <a:ext cx="2176272" cy="32004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811511" y="5824727"/>
            <a:ext cx="21762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Azure CLI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 Model — Star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1417320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8912" y="1170432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STAGING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5960" y="1115568"/>
            <a:ext cx="981151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965960" y="1115568"/>
            <a:ext cx="54864" cy="65836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1152144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onsolas"/>
              </a:rPr>
              <a:t>stg_deals · stg_fx_rates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1444752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 dirty="0">
                <a:solidFill>
                  <a:srgbClr val="64748B"/>
                </a:solidFill>
                <a:latin typeface="Calibri"/>
              </a:rPr>
              <a:t>type casting · no aggregation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01952"/>
            <a:ext cx="1417320" cy="658368"/>
          </a:xfrm>
          <a:prstGeom prst="rect">
            <a:avLst/>
          </a:prstGeom>
          <a:solidFill>
            <a:srgbClr val="4E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" y="1956816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INTERMEDIATE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65960" y="1901952"/>
            <a:ext cx="981151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965960" y="1901952"/>
            <a:ext cx="54864" cy="658368"/>
          </a:xfrm>
          <a:prstGeom prst="rect">
            <a:avLst/>
          </a:prstGeom>
          <a:solidFill>
            <a:srgbClr val="4E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148840" y="1938528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4E9A9A"/>
                </a:solidFill>
                <a:latin typeface="Consolas"/>
              </a:rPr>
              <a:t>int_deals_with_sdr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2231136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LEFT JOIN to FX rates · SDR calc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688336"/>
            <a:ext cx="1417320" cy="658368"/>
          </a:xfrm>
          <a:prstGeom prst="rect">
            <a:avLst/>
          </a:prstGeom>
          <a:solidFill>
            <a:srgbClr val="C4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2743200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MART · DIM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2688336"/>
            <a:ext cx="981151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965960" y="2688336"/>
            <a:ext cx="54864" cy="658368"/>
          </a:xfrm>
          <a:prstGeom prst="rect">
            <a:avLst/>
          </a:prstGeom>
          <a:solidFill>
            <a:srgbClr val="C4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48840" y="2724912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C48310"/>
                </a:solidFill>
                <a:latin typeface="Consolas"/>
              </a:rPr>
              <a:t>dim_counterparty · dim_currency · dim_product · dim_date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017520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lookup + classification tables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474720"/>
            <a:ext cx="1417320" cy="658368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" y="3529584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MART · FACT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65960" y="3474720"/>
            <a:ext cx="981151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965960" y="3474720"/>
            <a:ext cx="54864" cy="658368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48840" y="3511296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1C3354"/>
                </a:solidFill>
                <a:latin typeface="Consolas"/>
              </a:rPr>
              <a:t>fct_currency_deposits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3803904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grain: deal_id · 4 FK + 3 date FK · 4 measures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4261104"/>
            <a:ext cx="1417320" cy="658368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912" y="4315968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ANALYTICS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65960" y="4261104"/>
            <a:ext cx="9811512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965960" y="4261104"/>
            <a:ext cx="54864" cy="658368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148840" y="4297680"/>
            <a:ext cx="50292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2D9D78"/>
                </a:solidFill>
                <a:latin typeface="Consolas"/>
              </a:rPr>
              <a:t>mart_maturity_ladder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4590288"/>
            <a:ext cx="7589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Calibri"/>
              </a:rPr>
              <a:t>24 as-of dates × 7 buckets · standalone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1560" y="1773936"/>
            <a:ext cx="45720" cy="1280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51560" y="2560320"/>
            <a:ext cx="45720" cy="1280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51560" y="3346704"/>
            <a:ext cx="45720" cy="1280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51560" y="4133087"/>
            <a:ext cx="45720" cy="12801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772400" y="1115568"/>
            <a:ext cx="4114800" cy="51663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909560" y="117043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C3354"/>
                </a:solidFill>
                <a:latin typeface="Calibri"/>
              </a:rPr>
              <a:t>Star Schema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53728" y="2286000"/>
            <a:ext cx="1307592" cy="1417320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23960" y="2423160"/>
            <a:ext cx="178308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fct_currency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23960" y="2788920"/>
            <a:ext cx="1783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_deposits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3108960"/>
            <a:ext cx="17830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 i="0">
                <a:solidFill>
                  <a:srgbClr val="E8A020"/>
                </a:solidFill>
                <a:latin typeface="Calibri"/>
              </a:rPr>
              <a:t>[ FACT ]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8958" y="1389888"/>
            <a:ext cx="1280160" cy="47548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34678" y="1481328"/>
            <a:ext cx="1188719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1" i="0" dirty="0">
                <a:solidFill>
                  <a:srgbClr val="FFFFFF"/>
                </a:solidFill>
                <a:latin typeface="Calibri"/>
              </a:rPr>
              <a:t>Dim 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date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18120" y="2766060"/>
            <a:ext cx="1216729" cy="320040"/>
          </a:xfrm>
          <a:prstGeom prst="rect">
            <a:avLst/>
          </a:prstGeom>
          <a:solidFill>
            <a:srgbClr val="C4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863840" y="2788920"/>
            <a:ext cx="128016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1" i="0" dirty="0">
                <a:solidFill>
                  <a:srgbClr val="FFFFFF"/>
                </a:solidFill>
                <a:latin typeface="Calibri"/>
              </a:rPr>
              <a:t>Dim 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counterparty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716768" y="2697480"/>
            <a:ext cx="1280160" cy="475488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762488" y="2788920"/>
            <a:ext cx="1188719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1" i="0" dirty="0">
                <a:solidFill>
                  <a:srgbClr val="FFFFFF"/>
                </a:solidFill>
                <a:latin typeface="Calibri"/>
              </a:rPr>
              <a:t>Dim 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currency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74683" y="4251960"/>
            <a:ext cx="1280160" cy="4754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320403" y="4343400"/>
            <a:ext cx="1188719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900" b="1" i="0" dirty="0">
                <a:solidFill>
                  <a:srgbClr val="FFFFFF"/>
                </a:solidFill>
                <a:latin typeface="Calibri"/>
              </a:rPr>
              <a:t>Dim </a:t>
            </a:r>
            <a:r>
              <a:rPr sz="900" b="1" i="0" dirty="0">
                <a:solidFill>
                  <a:srgbClr val="FFFFFF"/>
                </a:solidFill>
                <a:latin typeface="Calibri"/>
              </a:rPr>
              <a:t>product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902190" y="1865376"/>
            <a:ext cx="36576" cy="420624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063355" y="2926080"/>
            <a:ext cx="164337" cy="36576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0589919" y="2926080"/>
            <a:ext cx="105108" cy="36576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987915" y="3703320"/>
            <a:ext cx="36576" cy="548640"/>
          </a:xfrm>
          <a:prstGeom prst="rect">
            <a:avLst/>
          </a:prstGeom>
          <a:solidFill>
            <a:srgbClr val="B0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7818120" y="5029200"/>
            <a:ext cx="3749039" cy="475488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882127" y="509320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mart_maturity_ladder  (standalone)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Maturity Ladder — Liquidity Risk Analytics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557784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5577840" cy="347472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52144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What is a maturity ladder?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523036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 liquidity risk report showing how much of the deposit book matures in each time window at a specific point in time. Used daily by BIS treasury and risk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956816"/>
            <a:ext cx="523036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2340864"/>
            <a:ext cx="523036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7 maturity buckets: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724912"/>
            <a:ext cx="91440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2706624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64748B"/>
                </a:solidFill>
                <a:latin typeface="Consolas"/>
              </a:rPr>
              <a:t>1. Overnight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04288" y="2706624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Sight accounts — redeemable any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72384"/>
            <a:ext cx="91440" cy="274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3232" y="305409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  <a:latin typeface="Consolas"/>
              </a:rPr>
              <a:t>2. ≤ 1 Week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4288" y="3054096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days_to_maturity ≤ 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419856"/>
            <a:ext cx="91440" cy="274320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3232" y="3401568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2D9D78"/>
                </a:solidFill>
                <a:latin typeface="Consolas"/>
              </a:rPr>
              <a:t>3. ≤ 1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04288" y="3401568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days_to_maturity ≤ 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767328"/>
            <a:ext cx="91440" cy="274320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3232" y="3749040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onsolas"/>
              </a:rPr>
              <a:t>4. ≤ 3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04288" y="3749040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days_to_maturity ≤ 90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114800"/>
            <a:ext cx="91440" cy="274320"/>
          </a:xfrm>
          <a:prstGeom prst="rect">
            <a:avLst/>
          </a:prstGeom>
          <a:solidFill>
            <a:srgbClr val="C4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096512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C48310"/>
                </a:solidFill>
                <a:latin typeface="Consolas"/>
              </a:rPr>
              <a:t>5. ≤ 6 Months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04288" y="4096512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days_to_maturity ≤ 180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4462272"/>
            <a:ext cx="91440" cy="274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4443984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7C3AED"/>
                </a:solidFill>
                <a:latin typeface="Consolas"/>
              </a:rPr>
              <a:t>6. ≤ 1 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04288" y="4443984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days_to_maturity ≤ 365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809744"/>
            <a:ext cx="91440" cy="274320"/>
          </a:xfrm>
          <a:prstGeom prst="rect">
            <a:avLst/>
          </a:prstGeom>
          <a:solidFill>
            <a:srgbClr val="DC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13232" y="4791456"/>
            <a:ext cx="155448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DC2B2B"/>
                </a:solidFill>
                <a:latin typeface="Consolas"/>
              </a:rPr>
              <a:t>7. &gt; 1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04288" y="4791456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days_to_maturity &gt; 365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115568"/>
            <a:ext cx="5605272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63640" y="1115568"/>
            <a:ext cx="5605272" cy="3474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19088" y="1152144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How it's built — hybrid approach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80" y="1572768"/>
            <a:ext cx="384048" cy="384048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55080" y="1609344"/>
            <a:ext cx="3840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157276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C3354"/>
                </a:solidFill>
                <a:latin typeface="Calibri"/>
              </a:rPr>
              <a:t>CROSS JOIN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30568" y="1810512"/>
            <a:ext cx="48463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050" dirty="0">
                <a:solidFill>
                  <a:srgbClr val="1E293B"/>
                </a:solidFill>
                <a:latin typeface="Calibri"/>
              </a:rPr>
              <a:t>7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00 active deals × 24 month-ends
= 1</a:t>
            </a:r>
            <a:r>
              <a:rPr lang="en-US" sz="1050" b="0" i="0" dirty="0">
                <a:solidFill>
                  <a:srgbClr val="1E293B"/>
                </a:solidFill>
                <a:latin typeface="Calibri"/>
              </a:rPr>
              <a:t>6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,</a:t>
            </a:r>
            <a:r>
              <a:rPr lang="en-US" sz="1050" b="0" i="0" dirty="0">
                <a:solidFill>
                  <a:srgbClr val="1E293B"/>
                </a:solidFill>
                <a:latin typeface="Calibri"/>
              </a:rPr>
              <a:t>8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00 (deal, as-of date) pairs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2395728"/>
            <a:ext cx="384048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55080" y="2432304"/>
            <a:ext cx="3840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30568" y="239572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days_to_maturity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30568" y="263347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DATEDIFF(day, as_of_date,
maturity_date) per pair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218688"/>
            <a:ext cx="384048" cy="384048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355080" y="3255264"/>
            <a:ext cx="3840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30568" y="321868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D9D78"/>
                </a:solidFill>
                <a:latin typeface="Calibri"/>
              </a:rPr>
              <a:t>Bucket logic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30568" y="345643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CASE WHEN in dbt SQL assigns
each pair to 1 of 7 buckets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4041648"/>
            <a:ext cx="384048" cy="384048"/>
          </a:xfrm>
          <a:prstGeom prst="rect">
            <a:avLst/>
          </a:prstGeom>
          <a:solidFill>
            <a:srgbClr val="C483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355080" y="4078224"/>
            <a:ext cx="3840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30568" y="404164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C48310"/>
                </a:solidFill>
                <a:latin typeface="Calibri"/>
              </a:rPr>
              <a:t>Aggregate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30568" y="427939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COUNT + SUM per (as_of_date,
bucket) → 71 rows output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55080" y="4864608"/>
            <a:ext cx="384048" cy="384048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355080" y="4901184"/>
            <a:ext cx="3840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0568" y="4864608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1C3354"/>
                </a:solidFill>
                <a:latin typeface="Calibri"/>
              </a:rPr>
              <a:t>Power BI slicer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30568" y="5102352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User picks as_of_date →
chart shows that snapshot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355080" y="5742432"/>
            <a:ext cx="5303520" cy="566928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355080" y="5742432"/>
            <a:ext cx="64008" cy="566928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92240" y="5833872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2D9D78"/>
                </a:solidFill>
                <a:latin typeface="Calibri"/>
              </a:rPr>
              <a:t>✓  71 rows · 24 dates × up to 7 buckets · dbt run PASS=1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91440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Power BI Report —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5440680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11480" y="1115568"/>
            <a:ext cx="5440680" cy="365760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928" y="1152144"/>
            <a:ext cx="512064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Page 1 — Deposit Book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27632"/>
            <a:ext cx="91440" cy="640080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645920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Stacked bar chart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38528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Total SDR by Region — 6 regions, matches Annual Report Graph 4.3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523744"/>
            <a:ext cx="91440" cy="640080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542032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Grouped bar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Deposits by Fiscal Year — FY2023-24 vs FY2024-25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419856"/>
            <a:ext cx="91440" cy="640080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438144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Slicer (dropdown)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30752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Fiscal Year filter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315968"/>
            <a:ext cx="91440" cy="640080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334256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Slicer (dropdown)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626864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Currency filter (10 currencies)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12080"/>
            <a:ext cx="91440" cy="640080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5230368"/>
            <a:ext cx="19202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KPI cards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22976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Total SDR · Deal Count · Avg Rate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115568"/>
            <a:ext cx="5468112" cy="5440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09360" y="1115568"/>
            <a:ext cx="5468112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64808" y="1152144"/>
            <a:ext cx="5120640" cy="3017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Page 2 — Counterparty &amp; Maturity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1627632"/>
            <a:ext cx="9144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164592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  <a:latin typeface="Calibri"/>
              </a:rPr>
              <a:t>Table visual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1938528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Top counterparties: cpty_name · region · total SDR (Bn)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523744"/>
            <a:ext cx="9144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83680" y="254203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  <a:latin typeface="Calibri"/>
              </a:rPr>
              <a:t>Bar chart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834640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Maturity ladder — 7 buckets, sorted by time horizon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3419856"/>
            <a:ext cx="9144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343814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  <a:latin typeface="Calibri"/>
              </a:rPr>
              <a:t>Slicer (dropdown)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730752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as_of_date — 24 month-ends Apr 2023 → Mar 2025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315968"/>
            <a:ext cx="9144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433425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  <a:latin typeface="Calibri"/>
              </a:rPr>
              <a:t>Slicer (list)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626864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Region filter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5212080"/>
            <a:ext cx="9144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0" y="52303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0D9488"/>
                </a:solidFill>
                <a:latin typeface="Calibri"/>
              </a:rPr>
              <a:t>Interaction fix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5522976"/>
            <a:ext cx="493776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FY slicer does not filter FY comparison chart (self-filter fix)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8288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Tech Stack — Project vs BIS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4572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1115568"/>
            <a:ext cx="2331720" cy="384048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34640" y="1115568"/>
            <a:ext cx="420624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132320" y="1115568"/>
            <a:ext cx="4663440" cy="384048"/>
          </a:xfrm>
          <a:prstGeom prst="rect">
            <a:avLst/>
          </a:prstGeom>
          <a:solidFill>
            <a:srgbClr val="1C3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2194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170432"/>
            <a:ext cx="40233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This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17043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BIS Production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572768"/>
            <a:ext cx="11384280" cy="6400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11480" y="1572768"/>
            <a:ext cx="54864" cy="64008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609344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Source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1609344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Python-generated CSV
(Findur simulation)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1609344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Openlink Findur
(live extract)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231136"/>
            <a:ext cx="11384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11480" y="2231136"/>
            <a:ext cx="54864" cy="64008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226771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Raw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2267712"/>
            <a:ext cx="4114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50" dirty="0" err="1"/>
              <a:t>PySpark</a:t>
            </a:r>
            <a:r>
              <a:rPr lang="en-US" sz="1050" dirty="0"/>
              <a:t> notebook </a:t>
            </a:r>
          </a:p>
          <a:p>
            <a:r>
              <a:rPr lang="en-US" sz="1050" dirty="0"/>
              <a:t>(CSV → Fabric Lakehouse)</a:t>
            </a:r>
            <a:endParaRPr sz="10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0" y="226771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Scheduled ETL pipeline</a:t>
            </a:r>
          </a:p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(Spark / Cloudera CDS)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89504"/>
            <a:ext cx="11384280" cy="6400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11480" y="2889504"/>
            <a:ext cx="54864" cy="64008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29260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Transformation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2926080"/>
            <a:ext cx="4114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50" dirty="0"/>
              <a:t>dbt Core (CLI) </a:t>
            </a:r>
          </a:p>
          <a:p>
            <a:r>
              <a:rPr lang="en-US" sz="1050" dirty="0"/>
              <a:t>Fabric SQL Analytics Endpoint</a:t>
            </a:r>
            <a:endParaRPr sz="10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32320" y="292608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dbt Core or dbt Cloud</a:t>
            </a:r>
          </a:p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(Databricks / Snowflake)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3547872"/>
            <a:ext cx="11384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11480" y="3547872"/>
            <a:ext cx="54864" cy="64008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8640" y="3584448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Semantic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0" y="3584448"/>
            <a:ext cx="4114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GB" sz="1050"/>
              <a:t>Fabric Power </a:t>
            </a:r>
            <a:r>
              <a:rPr lang="en-GB" sz="1050" dirty="0"/>
              <a:t>BI Import mode </a:t>
            </a:r>
          </a:p>
          <a:p>
            <a:r>
              <a:rPr lang="en-GB" sz="1050" dirty="0"/>
              <a:t>Fabric SQL Endpoint</a:t>
            </a:r>
            <a:endParaRPr sz="1050" b="0" i="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132320" y="3584448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Power BI or Tableau</a:t>
            </a:r>
          </a:p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(direct connection)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206240"/>
            <a:ext cx="11384280" cy="6400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11480" y="4206240"/>
            <a:ext cx="54864" cy="64008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242816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Reporting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4242816"/>
            <a:ext cx="4114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050" dirty="0">
                <a:solidFill>
                  <a:srgbClr val="1E293B"/>
                </a:solidFill>
                <a:latin typeface="Calibri"/>
              </a:rPr>
              <a:t>Fabric Power BI </a:t>
            </a:r>
          </a:p>
          <a:p>
            <a:r>
              <a:rPr lang="en-US" sz="1050" dirty="0">
                <a:solidFill>
                  <a:srgbClr val="1E293B"/>
                </a:solidFill>
                <a:latin typeface="Calibri"/>
              </a:rPr>
              <a:t>(workspace publish)</a:t>
            </a:r>
            <a:endParaRPr sz="1050" dirty="0">
              <a:solidFill>
                <a:srgbClr val="1E293B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132320" y="4242816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Power BI Service
RLS · certified dataset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864607"/>
            <a:ext cx="113842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11480" y="4864607"/>
            <a:ext cx="54864" cy="64008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" y="4901183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Auth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34640" y="4901183"/>
            <a:ext cx="41148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 dirty="0">
                <a:solidFill>
                  <a:srgbClr val="1E293B"/>
                </a:solidFill>
                <a:latin typeface="Calibri"/>
              </a:rPr>
              <a:t>Azure CLI interactive
(</a:t>
            </a:r>
            <a:r>
              <a:rPr sz="1050" b="0" i="0" dirty="0" err="1">
                <a:solidFill>
                  <a:srgbClr val="1E293B"/>
                </a:solidFill>
                <a:latin typeface="Calibri"/>
              </a:rPr>
              <a:t>az</a:t>
            </a:r>
            <a:r>
              <a:rPr sz="1050" b="0" i="0" dirty="0">
                <a:solidFill>
                  <a:srgbClr val="1E293B"/>
                </a:solidFill>
                <a:latin typeface="Calibri"/>
              </a:rPr>
              <a:t> logi</a:t>
            </a:r>
            <a:r>
              <a:rPr sz="1050" dirty="0">
                <a:solidFill>
                  <a:srgbClr val="1E293B"/>
                </a:solidFill>
                <a:latin typeface="Calibri"/>
              </a:rPr>
              <a:t>n)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901183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Service Principal
Managed Identity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522976"/>
            <a:ext cx="11384280" cy="64008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411480" y="5522976"/>
            <a:ext cx="54864" cy="640080"/>
          </a:xfrm>
          <a:prstGeom prst="rect">
            <a:avLst/>
          </a:prstGeom>
          <a:solidFill>
            <a:srgbClr val="14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5559552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i="0">
                <a:solidFill>
                  <a:srgbClr val="1C3354"/>
                </a:solidFill>
                <a:latin typeface="Calibri"/>
              </a:rPr>
              <a:t>Orchestration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5559552"/>
            <a:ext cx="41148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Manual CLI (dbt run)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5559552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CI/CD pipeline</a:t>
            </a:r>
          </a:p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(e.g. Azure DevOps)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6199632"/>
            <a:ext cx="11384280" cy="457200"/>
          </a:xfrm>
          <a:prstGeom prst="rect">
            <a:avLst/>
          </a:prstGeom>
          <a:solidFill>
            <a:srgbClr val="E8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11480" y="6199632"/>
            <a:ext cx="64008" cy="457200"/>
          </a:xfrm>
          <a:prstGeom prst="rect">
            <a:avLst/>
          </a:prstGeom>
          <a:solidFill>
            <a:srgbClr val="2D9D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" y="6291072"/>
            <a:ext cx="1106424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 dirty="0">
                <a:solidFill>
                  <a:srgbClr val="2D9D78"/>
                </a:solidFill>
                <a:latin typeface="Calibri"/>
              </a:rPr>
              <a:t>Architecture maps to modern data Lake</a:t>
            </a:r>
            <a:r>
              <a:rPr lang="en-US" sz="1100" b="1" dirty="0">
                <a:solidFill>
                  <a:srgbClr val="2D9D78"/>
                </a:solidFill>
                <a:latin typeface="Calibri"/>
              </a:rPr>
              <a:t>h</a:t>
            </a:r>
            <a:r>
              <a:rPr sz="1100" b="1" i="0" dirty="0">
                <a:solidFill>
                  <a:srgbClr val="2D9D78"/>
                </a:solidFill>
                <a:latin typeface="Calibri"/>
              </a:rPr>
              <a:t>ouse principles — dbt, SQL views, star schema, BI layer.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352197"/>
            <a:ext cx="12188825" cy="640348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1653" tIns="179953" rIns="215944" bIns="179953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799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162" y="531120"/>
            <a:ext cx="291389" cy="291389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0824" y="1171468"/>
              <a:ext cx="10747177" cy="533433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824" y="1171468"/>
                <a:ext cx="10747177" cy="533433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54327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" y="352197"/>
            <a:ext cx="12188825" cy="640348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1653" tIns="179953" rIns="215944" bIns="179953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799" dirty="0">
                <a:solidFill>
                  <a:srgbClr val="000000"/>
                </a:solidFill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162" y="531120"/>
            <a:ext cx="291389" cy="291389"/>
          </a:xfrm>
          <a:prstGeom prst="rect">
            <a:avLst/>
          </a:prstGeom>
          <a:noFill/>
        </p:spPr>
      </p:pic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0824" y="1171468"/>
              <a:ext cx="10747177" cy="533433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0824" y="1171468"/>
                <a:ext cx="10747177" cy="5334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3" name="Add-in" descr="Add-in content for Microsoft Power BI.">
                <a:extLst>
                  <a:ext uri="{FF2B5EF4-FFF2-40B4-BE49-F238E27FC236}">
                    <a16:creationId xmlns:a16="http://schemas.microsoft.com/office/drawing/2014/main" id="{ADA6C17F-11F7-577A-15FC-4BBC697D3F2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3" name="Add-in" descr="Add-in content for Microsoft Power BI.">
                <a:extLst>
                  <a:ext uri="{FF2B5EF4-FFF2-40B4-BE49-F238E27FC236}">
                    <a16:creationId xmlns:a16="http://schemas.microsoft.com/office/drawing/2014/main" id="{ADA6C17F-11F7-577A-15FC-4BBC697D3F2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-731520"/>
            <a:ext cx="4572000" cy="4572000"/>
          </a:xfrm>
          <a:prstGeom prst="ellipse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097280"/>
            <a:ext cx="91440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Let's 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761488"/>
            <a:ext cx="5486400" cy="18288"/>
          </a:xfrm>
          <a:prstGeom prst="rect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907792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  <a:latin typeface="Calibri"/>
              </a:rPr>
              <a:t>Email: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907792"/>
            <a:ext cx="8686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Calibri"/>
              </a:rPr>
              <a:t>g</a:t>
            </a: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authier@gny-consulting.com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  <a:latin typeface="Calibri"/>
              </a:rPr>
              <a:t>Role: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474720"/>
            <a:ext cx="8686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Business Data Analyst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041648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  <a:latin typeface="Calibri"/>
              </a:rPr>
              <a:t>Stack: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4041648"/>
            <a:ext cx="868680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MS Fabric  ·  dbt Core  ·  Power BI  ·  T-SQL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08576"/>
            <a:ext cx="1371600" cy="4023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1" i="0">
                <a:solidFill>
                  <a:srgbClr val="E8A020"/>
                </a:solidFill>
                <a:latin typeface="Calibri"/>
              </a:rPr>
              <a:t>Project: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4608576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0" dirty="0">
                <a:solidFill>
                  <a:srgbClr val="FFFFFF"/>
                </a:solidFill>
                <a:latin typeface="Calibri"/>
              </a:rPr>
              <a:t>BIS_Project_2026 — full pipeline </a:t>
            </a:r>
            <a:r>
              <a:rPr lang="en-US" sz="1200" b="0" i="0" dirty="0">
                <a:solidFill>
                  <a:srgbClr val="FFFFFF"/>
                </a:solidFill>
                <a:latin typeface="Calibri"/>
              </a:rPr>
              <a:t>available </a:t>
            </a:r>
            <a:r>
              <a:rPr lang="en-GB" sz="1200" b="0" i="0" dirty="0">
                <a:solidFill>
                  <a:srgbClr val="FFFFFF"/>
                </a:solidFill>
                <a:latin typeface="Calibri"/>
              </a:rPr>
              <a:t>in the Git Hub repository:</a:t>
            </a:r>
          </a:p>
          <a:p>
            <a:r>
              <a:rPr lang="en-GB" sz="1200" dirty="0">
                <a:solidFill>
                  <a:srgbClr val="FFFFFF"/>
                </a:solidFill>
                <a:hlinkClick r:id="rId2"/>
              </a:rPr>
              <a:t>https://github.com/gny-analytics/BIS_Analytics_Pipeline/tree/main</a:t>
            </a:r>
            <a:r>
              <a:rPr lang="en-GB" sz="1200" dirty="0">
                <a:solidFill>
                  <a:srgbClr val="FFFFFF"/>
                </a:solidFill>
              </a:rPr>
              <a:t>  </a:t>
            </a:r>
            <a:endParaRPr sz="12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02920" y="5349240"/>
            <a:ext cx="5486400" cy="18288"/>
          </a:xfrm>
          <a:prstGeom prst="rect">
            <a:avLst/>
          </a:prstGeom>
          <a:solidFill>
            <a:srgbClr val="2D4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webextension1.xml><?xml version="1.0" encoding="utf-8"?>
<we:webextension xmlns:we="http://schemas.microsoft.com/office/webextensions/webextension/2010/11" id="{cb19b00e-e1cc-4d8b-a990-6240f72314f6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E6E6E6&quot;"/>
    <we:property name="bookmark" value="&quot;H4sIAAAAAAAAA+1Y32/TMBD+V5BfeCnISX8k2dtWNgkJoYmiIYSm6mxfOm9pHDnOaKn2v3N2Uka7akPaGAjah8g+n3133313srtiStdVAcv3MEd2wI6MuZqDvXoRsR4rW5lIxCBLBhFmKlMjwRPkQKumctqUNTtYMQd2hu5M1w0U/iASfmFRLkYC8jRSXEZD+imO7LzHoChOYeZ1cihq7LEKbW1KKPQ3bI+gJWcbvOkxXFSFseANTRw49MauSZ3m5Fj0uk9+gHT6GicoXSvlyGOBUsUZpCpKUj6KOanVrULwd6eKPzqYH5vSgS7JjJflmORxP+OJSIciGWX9hA+CXBeuUxHL40VlKWZCYll5yA7VNZQSFQshWKxbj1fscDazOAPXTY83FsemaOY75BPTWIkfMA9LpdNuSTZy6aaysRZLuZwqrEytXc1uCLVTawjToFSauSZopzA3TemmtbJB46QpO7i4n16Yr2OLhK/ygnOS1LqcFV06bpH52EYnwapuiWggLglZjwNtM1ahPVoGKN5ou85J3NuK6G+EgeImUST5MB/1cyEHwEfJMJUD/mC6xwTdzFgtAyL4iGiUnk8ra1Qj3XYMnXgaqvJu1nr/C/mKpqZMoDoCO74A6/4tDq77GW28/KljdQxro/pdlKICoHXq9Wo0HOQ8izLB6Zvy9JkrYI3ltr8b8j399/R/Oj613Mc4EnRdERhzLlOVgojFc3Pfw4O2Au/ilr+UML9/z/49+5+aUS3/d97Zn5f/yl/zt7zMdU2HT5cIdgf5H2QNdDUxKbREu+PmyuZIDxg/mCHd+/0RFF7VOqCxvoVgc3S2fooQv06smYdt3UvKV+DdwHqs9Yn7ZH+6ICp3SS2VXpPx7RZe9a/nvZ0E6/dCSMbPoGjCQ43OfqddG/WqFZP+y5PPMY8Hr+LhS69/3t6Pu0+P5QAiUkmfYySSJAEl4pHffm8eHC6cMIvNmg20izIASFBJjpLzfhThw2+sP027fc/d99xH0CkUktfY1YZM4+oKJJ5CiTt6EbEMSuXzF8ahF+2o4fD/Crv5UbbfAQpFi+PtEQAA&quot;"/>
    <we:property name="creatorSessionId" value="&quot;ba502e7e-07b5-4739-ac41-ac2a56e2226d&quot;"/>
    <we:property name="creatorTenantId" value="&quot;04f991f3-0023-4b95-ab0d-bebbdbc8df14&quot;"/>
    <we:property name="creatorUserId" value="&quot;10032005BA5268A4&quot;"/>
    <we:property name="datasetId" value="&quot;1bc9f159-2234-42ac-8da2-ce5c6c94d7e2&quot;"/>
    <we:property name="embedUrl" value="&quot;/reportEmbed?reportId=1d5493b0-0102-488b-a943-c8943ff1f6fd&amp;groupId=af757372-574a-4725-b0ef-991838213ca2&amp;w=2&amp;config=eyJjbHVzdGVyVXJsIjoiaHR0cHM6Ly9XQUJJLUNBTkFEQS1DRU5UUkFMLUI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1YbU/bMBD+K5O/7Es3OelLUr6VDqSJ8SKYmKYJVWf7UgxpHDkOo0P8952dVKylAiQYm7b2Q2Sfz/fy3HOW3RumdFXmMD+AGbIttm3M5Qzs5ZuIdVjRyg4P9/ZHx3uTg9H+DolN6bQpKrZ1wxzYKbpTXdWQewsk/HbWYZDnRzD1swzyCjusRFuZAnL9AxtlWnK2xtsOw+syNxa8yRMHDr3ZK1KnOfmO3nfJI0inr/AEpWukHHksUKp4CKmKkpQPYk5qVaMQIlur4k0H92NTONAFufGyDJMs7g55ItK+SAbDbsJ7Qa5z16qI+c51aSk7ynleelRG6goKiYqFFCxWTcQ3bDSdWpyCa6c7S4tjk9ezNfITU1uJx5iFpcJpNycfmXQTWVuLhZxPFJam0q5it4TakTWEaVAqzEwTtBOYmbpwk0rZoLFbFy1c3E/PzfexRcJXecEZSSpdTPO2HHfIfG6yk2BVu0QFFxeErMeBthmr0G7PAxQftF3UJO6sZPQ3wkB5kyiSvJ8NupmQPeCDpJ/KHn+03GOCbmqslgERfEY2Ss8mpTWqlm41h1Y8CY13v2qd/4V8eV1RJVBtgx2fg3X/FgcX5xltvPjlxGoZ1mT1uyhFDUDrvWGiBv1exofRUHD6pjx95Q5YYLka75J8Q/8N/V+OTw33MY6E4lJgzLlMVQoiFq/NfQ8P2hJ8iCvxUsH8/g37N+x/aUY1/I8yMRCQpRE1QdSnn+L4yvxX/pq/EmWmKzI+mSPYNeR/lDXQ9sRJriXaNTdXNkN6qvjBFOne701QemUTgMbqDoLl0eniKUL82rVmFra1jyXfgfcT67AmJu6L/eWcqNwWtVB6QcaPK3hVT697MwneH4SQnJ9CXocnGdn+pF2T9U0jJv23u19jHvfexf23Xv+suR+3nw7LAESkki7HSCRJAkrEA7/9wTo4vHbCXC/3bKBdNASABJXkKDnvRhE+/sb607TbnLmbM/cZdAqN5DXWHUOmdlUJEo+gwDVnEbEMCuXrF8bhLFrTw/5PFBZ8UEG1yPGJ+m1wPwHlNK0B/xEAAA==&quot;"/>
    <we:property name="isFiltersActionButtonVisible" value="true"/>
    <we:property name="isVisualContainerHeaderHidden" value="false"/>
    <we:property name="pageDisplayName" value="&quot;Portfolio Overview&quot;"/>
    <we:property name="pageName" value="&quot;0e02becd29a8d1780620&quot;"/>
    <we:property name="reportEmbeddedTime" value="&quot;2026-04-26T21:50:41.024Z&quot;"/>
    <we:property name="reportName" value="&quot;bis_analytics_report&quot;"/>
    <we:property name="reportState" value="&quot;CONNECTED&quot;"/>
    <we:property name="reportUrl" value="&quot;/groups/af757372-574a-4725-b0ef-991838213ca2/reports/1d5493b0-0102-488b-a943-c8943ff1f6fd/0e02becd29a8d1780620?bookmarkGuid=c646a4f7-db74-44df-af28-6c7e6fabfc21&amp;bookmarkUsage=1&amp;ctid=04f991f3-0023-4b95-ab0d-bebbdbc8df14&amp;fromEntryPoint=export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b19b00e-e1cc-4d8b-a990-6240f72314f6}">
  <we:reference id="WA200003233" version="2.0.0.3" store="en-US" storeType="OMEX"/>
  <we:alternateReferences/>
  <we:properties>
    <we:property name="Microsoft.Office.CampaignId" value="&quot;none&quot;"/>
    <we:property name="reportUrl" value="&quot;/groups/af757372-574a-4725-b0ef-991838213ca2/reports/1d5493b0-0102-488b-a943-c8943ff1f6fd/0e02becd29a8d1780620?bookmarkGuid=c646a4f7-db74-44df-af28-6c7e6fabfc21&amp;bookmarkUsage=1&amp;ctid=04f991f3-0023-4b95-ab0d-bebbdbc8df14&amp;fromEntryPoint=export&quot;"/>
    <we:property name="reportState" value="&quot;CONNECTED&quot;"/>
    <we:property name="artifactViewState" value="&quot;live&quot;"/>
    <we:property name="reportEmbeddedTime" value="&quot;2026-04-26T21:50:41.024Z&quot;"/>
    <we:property name="creatorSessionId" value="&quot;ba502e7e-07b5-4739-ac41-ac2a56e2226d&quot;"/>
    <we:property name="creatorUserId" value="&quot;10032005BA5268A4&quot;"/>
    <we:property name="creatorTenantId" value="&quot;04f991f3-0023-4b95-ab0d-bebbdbc8df14&quot;"/>
    <we:property name="pageDisplayName" value="&quot;Portfolio Overview&quot;"/>
    <we:property name="pageName" value="&quot;0e02becd29a8d1780620&quot;"/>
    <we:property name="reportName" value="&quot;bis_analytics_report&quot;"/>
    <we:property name="isVisualContainerHeaderHidden" value="false"/>
    <we:property name="isFiltersActionButtonVisible" value="true"/>
    <we:property name="initialStateBookmark" value="&quot;H4sIAAAAAAAAA+1YbU/bMBD+K5O/7Es3OelLUr6VDqSJ8SKYmKYJVWf7UgxpHDkOo0P8952dVKylAiQYm7b2Q2Sfz/fy3HOW3RumdFXmMD+AGbIttm3M5Qzs5ZuIdVjRyg4P9/ZHx3uTg9H+DolN6bQpKrZ1wxzYKbpTXdWQewsk/HbWYZDnRzD1swzyCjusRFuZAnL9AxtlWnK2xtsOw+syNxa8yRMHDr3ZK1KnOfmO3nfJI0inr/AEpWukHHksUKp4CKmKkpQPYk5qVaMQIlur4k0H92NTONAFufGyDJMs7g55ItK+SAbDbsJ7Qa5z16qI+c51aSk7ynleelRG6goKiYqFFCxWTcQ3bDSdWpyCa6c7S4tjk9ezNfITU1uJx5iFpcJpNycfmXQTWVuLhZxPFJam0q5it4TakTWEaVAqzEwTtBOYmbpwk0rZoLFbFy1c3E/PzfexRcJXecEZSSpdTPO2HHfIfG6yk2BVu0QFFxeErMeBthmr0G7PAxQftF3UJO6sZPQ3wkB5kyiSvJ8NupmQPeCDpJ/KHn+03GOCbmqslgERfEY2Ss8mpTWqlm41h1Y8CY13v2qd/4V8eV1RJVBtgx2fg3X/FgcX5xltvPjlxGoZ1mT1uyhFDUDrvWGiBv1exofRUHD6pjx95Q5YYLka75J8Q/8N/V+OTw33MY6E4lJgzLlMVQoiFq/NfQ8P2hJ8iCvxUsH8/g37N+x/aUY1/I8yMRCQpRE1QdSnn+L4yvxX/pq/EmWmKzI+mSPYNeR/lDXQ9sRJriXaNTdXNkN6qvjBFOne701QemUTgMbqDoLl0eniKUL82rVmFra1jyXfgfcT67AmJu6L/eWcqNwWtVB6QcaPK3hVT697MwneH4SQnJ9CXocnGdn+pF2T9U0jJv23u19jHvfexf23Xv+suR+3nw7LAESkki7HSCRJAkrEA7/9wTo4vHbCXC/3bKBdNASABJXkKDnvRhE+/sb607TbnLmbM/cZdAqN5DXWHUOmdlUJEo+gwDVnEbEMCuXrF8bhLFrTw/5PFBZ8UEG1yPGJ+m1wPwHlNK0B/xEAAA==&quot;"/>
    <we:property name="bookmark" value="&quot;H4sIAAAAAAAAA+1Y32/TMBD+V5BfeCnITtv82NtWmISE0MTQEEJTdbYvnbc0jhxnrEz73zk7KWNdxZCAgaB9iOzz+Xz33Xcnu9dMm7apYPUGlsj22IG1F0twF08EG7G6l6lsXE6KtCxEjlnKp0JMElq1jTe2btneNfPgFuhPTNtBFQyR8OPpiEFVHcEizEqoWhyxBl1ra6jMZ+yVacm7Dm9GDK+ayjoIJo89eAxmL0md5uSCeD6mE0F5c4nHqHwv5cgTiUonBeRaZDlPE05qba8QPduqEkzH42e29mBqOibISszKZFzwTOZTmaXFOOOTKDeVH1Tk6uVV4yg6innVBHD29SXUCjWLIThse4+v2f5i4XABfpi+vLM4s1W33CI/tp1T+BbLuFR741d0Rqn8XHXOYa1Wc42NbY1v2Q2hduQsYRqVars0BO0clrar/bzVLmocdvUAFw/TM/tp5pDw1UFwSpLW1ItqSMctMu/66BQ4PSxRwuU5IRtwoG3WaXQHqwjFC+PWOUlGGxH9jTBQ3CQSik/LdFxKNQGeZtNcTfiD6Z4RdAvrjIqI4E9Eo81y3jirO+U3YxjE81h/97M2+l/IV3UtZQL1AbjZGTj/b3Fw3c9o4/k3HWtgWB/V76IUFQCtT4pMp9NJyQtRSE7fnOePXAFrLDf9vSPf0X9H/1/Hp577mAipuZKYcK5ynYNM5GNzP8CDroHg4oa/lLCwf8f+Hft/NaN6/otSphLKXFARiCn9NMdH5r8O1/wNL0vTkvH5CsFtIf+DrIGhJo4ro9BtubmyJdJTJQwWSPf+YILCa3oHDLa3ENwdnayfIsSvQ2eXcdvwZgoVeD+wEet94iHZ78+IykNSa23WZHy1gVf743nvJ/H070JIh59A1cUnGdl+bXwf9XUvJv2nhx8SnkyeJdOnQf+0vx8PnxErAaTQ2ZijkFmWgZZJGrZ/Nw8er7y0V3drNtJOFACQoVYcFedjIfDhN9afpt2u5+567k/QKRZS0NjWhmzn2wYUHkGNW3oRsQxqHfIXx7EXbanh+P8Ku/latl8AURVnwtcRAAA=&quot;"/>
    <we:property name="datasetId" value="&quot;1bc9f159-2234-42ac-8da2-ce5c6c94d7e2&quot;"/>
    <we:property name="embedUrl" value="&quot;/reportEmbed?reportId=1d5493b0-0102-488b-a943-c8943ff1f6fd&amp;groupId=af757372-574a-4725-b0ef-991838213ca2&amp;w=2&amp;config=eyJjbHVzdGVyVXJsIjoiaHR0cHM6Ly9XQUJJLUNBTkFEQS1DRU5UUkFMLUItUFJJTUFSWS1yZWRpcmVjdC5hbmFseXNpcy53aW5kb3dzLm5ldCIsImVtYmVkRmVhdHVyZXMiOnsidXNhZ2VNZXRyaWNzVk5leHQiOnRydWV9fQ%3D%3D&amp;disableSensitivityBanner=true&amp;storytellingChangeViewModeShortcutKeys=true&quot;"/>
    <we:property name="backgroundColor" value="&quot;#E6E6E6&quot;"/>
  </we:properties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2DC6E3CD-D1E8-42D2-B816-3BB9EDC81C62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E6E6E6&quot;"/>
    <we:property name="bookmark" value="&quot;H4sIAAAAAAAAA+VYbW/bNhD+K4O+5IszUG9++9a4CTBg6LI5yDAMhnAizw4bSdQoKo0b+L/vSMmO4ziOm9ZusQVBQB6Pp3vuHh6PefCErMoM5h8gR2/onSl1m4O+/cn3Ol7RyCIhgDOWxjztd3thl0dpSquqNFIVlTd88AzoGZprWdWQWUMk/HvS8SDLLmFmZ1PIKux4JepKFZDJz9go05LRNS46Ht6XmdJgTY4NGLRm70id5uSC/3NIXwRu5B2OkZtGGk/jHo/AB3IpZn4/jCNOalWj4DzbqmJNu8+PVGFAFvQZKxt0oyiAmBHKuBsy1hWEk+RTmZlWJZ2f35ea0BHmeWmDMyJfZ0pLDpnnUGisGqcfvJHK6tyNzp/Ix6rWHP/AqVsqjDRzsjTlJuG11ljweSKwVJU0lbeg2FxqRZFzSgIhSyoKUN0s3ahPI43kg/CGbNFZufVO3EHBSbrp07vZTOMMTDs9P7TDhcolZTyBXNWFSSqhncZFXbRZZM9hTEhSyWKWtSx5TNhVg45ndUUpQXEGenQD2lg6ph8p7zZLtFtpgfps7hL1XuolY4LOBrAfMRqLyZLptPHjGpdbqjWoDs6tycIux33ejcJBHEdRGLDAZ12fvXomrlT5gTLS6FiV6+VBpgRcaJU75bbiVHX6T42EajM34+UCjX9fDnZZsmRfIRYyT7gNMuoSLL6O15DHnZJ2x3R9x/YYPW6jtIwxo3zsH/9m4lzbiDUvzTxx9ZXkS28kZqRI3/ntaPRdeTh9K1Up2d7QZ44tTaiCtQjvmxMy9OcNneg2toWQS1C/bECovnH4HQZIM3x5+4qiC/szWXxdnX8WhR2+vVzgv929s5c/TkHPfxCXiPR2///3AjSWsOf3/61rz4qCfgpBgNALMYwGQS8K0D9iD2aJJ2z3uQFgKisynswR9BbWvZouaMk4ziRH3Sqt587LkTpoO5ghtaPWBMErGwckVo8heDr6ouvQAftuJfdpCOnj15DV7qVAtn+VpkH90IhJ/+TiL2o4otMgPrH6k4Yh7Z+Ox4Mo7IWhCP0eMgj8yB+ERyQKvZFMklOrpGmeZCDo4G0ihipR00c6fSFnKseVg7MkX2fJVlTHYky+M36vE8YqGpnjCdEmPmXhaehfMTZ0vxsU6lhl2BK9XAkXX3TE2c7L97RDqE/FybIdeLnw+puF98Ake/HpsArdwV1onw3TvoBuxIQIODA/CjHtvXo6j3Fl74PHKGMfQvtc1IdofvZxcbWc1vwWzVvqy1vf0Efg9HN0h3gTv82Tht/MBzHAiMVxGkTdAQtDdPze3bThvUnVRtO2aK6zbUVe1aYqgeMlFLilVhHHoBA22zvrlfvX26pULRb/Apos8tzyEwAA&quot;"/>
    <we:property name="creatorSessionId" value="&quot;e438f960-d861-43a2-98b5-810e1b351479&quot;"/>
    <we:property name="creatorTenantId" value="&quot;04f991f3-0023-4b95-ab0d-bebbdbc8df14&quot;"/>
    <we:property name="creatorUserId" value="&quot;10032005BA5268A4&quot;"/>
    <we:property name="datasetId" value="&quot;1bc9f159-2234-42ac-8da2-ce5c6c94d7e2&quot;"/>
    <we:property name="embedUrl" value="&quot;/reportEmbed?reportId=1d5493b0-0102-488b-a943-c8943ff1f6fd&amp;groupId=af757372-574a-4725-b0ef-991838213ca2&amp;w=2&amp;config=eyJjbHVzdGVyVXJsIjoiaHR0cHM6Ly9XQUJJLUNBTkFEQS1DRU5UUkFMLUItUFJJTUFSWS1yZWRpcmVjdC5hbmFseXNpcy53aW5kb3dzLm5ldCIsImVtYmVkRmVhdHVyZXMiOnsidXNhZ2VNZXRyaWNzVk5leHQiOnRydWV9fQ%3D%3D&amp;disableSensitivityBanner=true&amp;storytellingChangeViewModeShortcutKeys=true&quot;"/>
    <we:property name="initialStateBookmark" value="&quot;H4sIAAAAAAAAA+VYbU/jRhD+K5W/8CVUfk1IvkEuSNX1gF4QVVVF1nh3HPawve56zZGi/PfOrp0QciHk6CV3ahFC69nZ2ZlnnhmPeXS4qMoMZheQozNwzqS8y0Hd/eQ5HadoZZeX7z+cfnwfX5x+GJFYllrIonIGj44GNUV9I6oaMmOBhH9OOg5k2RVMzVMKWYUdp0RVyQIy8Tc2yrSlVY3zjoMPZSYVGJNjDRqN2XtSp2e62/s5oBuBaXGPY2S6kUZp1GMheNBlYeR6J0EUMlKrGgXr2UYVY9peP5SFBlHQNUbW74ahD5GbnHSjbuC6XZ4kRp6KTLcqyWz0UCqKjmKelQaVIfk6lUowyBwbhcKqcfrRGcqszu1q9Ew+lrVi+BFTu1VooWdkKWU6ZrVSWLBZzLGUldCVMydsrpQk5KwSR8jiigCqm61b+XmokHzgzsCdd5ZunfJ7KBhJ1306nU4VTkG3j6N9O1zIXFDGY8hlXei44spqnNdFm0X3yzAmJKlEMc1aljwl7LqJjmV1RSlBfgZqeAtKGzomnyjvJkt0WiqO6mxmE/VOqAVj/M5aYD8iGvPJgul08NMKl1uqNVHtnVuTudmOTlg3DPpRFIaB7/qe2/XcV2viWpYXlJFGx6jcLAqZEnCuZG6V21ZT1clfNVJU67kZLzZo/dtisc2SIfsyYi7ymBmQUZVg4us4DXlslbQn0tUTmzF6OkZpGWNG+dgd/+bBuraGNSv1LLaNleQLbwRmpEj3XB6MvksP07dSlZLtDDzXsqWByl9BeNeckKHfb6miW2wLLhZB/bIWQvWN4bcxQJLhy8eXFJ2bn8n83/X5L1DY4tvLDf7bvXd28scqqNkP4hKR3pz//74AtSHs6OG/9dozIv8kAd9H6AUYhH2/F/roHXAGM8TjZvpcCyAVFRmPZwhqA+teTRe0ZBxngqFqlVZz5+RIE7RZTJHGUWOCwisbBwRWTxA8X33V69AG9t1a7nMI6fIbyGr7pUC2fxW6ifqxEZP+0fkfNHCEx350ZPQnDUPaPx3H9YD3MXSjKPHDbt8NAuyZ49vLBh90ItfKxo456QmHbuhy7jNwvTDApPcq7Q7RYugjTMc5jWSKnuMMOBX4OrJaajO47dJY9tGsd3FxuZ3U7A71W2rorTO/t978DhHdPmb4t3nSjPHMD4NeEPDA66ELvhd6/eCAbXUX16GKZfrUfL+SHZXtrHvvqflqT90Y1aH6a74Vv9fbq1HUIscjarLRsRscB9616w7s71rD7Rhl2IBeLrnFFy1xNnfxd3SCy8/F0WJ4/q6V+gykF4t0Cd3eXbAAW0g20FbWuiqB4RUUuAF9Qh0KbupjawbM/9ccewcVjGi/c3bQb537B7kHOugaFAAA&quot;"/>
    <we:property name="isFiltersActionButtonVisible" value="true"/>
    <we:property name="isVisualContainerHeaderHidden" value="false"/>
    <we:property name="pageDisplayName" value="&quot;Maturity &amp; Counterparty&quot;"/>
    <we:property name="pageName" value="&quot;5f57c4a1a6c45018354c&quot;"/>
    <we:property name="reportEmbeddedTime" value="&quot;2026-04-26T21:49:27.262Z&quot;"/>
    <we:property name="reportName" value="&quot;bis_analytics_report&quot;"/>
    <we:property name="reportState" value="&quot;CONNECTED&quot;"/>
    <we:property name="reportUrl" value="&quot;/groups/af757372-574a-4725-b0ef-991838213ca2/reports/1d5493b0-0102-488b-a943-c8943ff1f6fd/5f57c4a1a6c45018354c?bookmarkGuid=6d6235c1-fcd7-4199-ad5b-179596412b56&amp;bookmarkUsage=1&amp;ctid=04f991f3-0023-4b95-ab0d-bebbdbc8df14&amp;fromEntryPoint=export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1288</Words>
  <Application>Microsoft Office PowerPoint</Application>
  <PresentationFormat>Custom</PresentationFormat>
  <Paragraphs>236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Microsoft Power BI</vt:lpstr>
      <vt:lpstr>Microsoft Power BI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Sosa Ny</cp:lastModifiedBy>
  <cp:revision>30</cp:revision>
  <dcterms:created xsi:type="dcterms:W3CDTF">2013-01-27T09:14:16Z</dcterms:created>
  <dcterms:modified xsi:type="dcterms:W3CDTF">2026-05-09T13:05:23Z</dcterms:modified>
  <cp:category/>
</cp:coreProperties>
</file>